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op 3" id="{d801027f-ab78-c0c9-4be4-58f3516cf6f3}">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minute. Grupa Azoty is not a start-up looking for assets. It is the number two fertilizer producer in the European Union and holds about half of the Polish market.</a:t>
            </a:r>
          </a:p>
          <a:p>
            <a:r>
              <a:t>Look at the chain from left to right: our own raw materials, 8.76 million tonnes of capacity per year, around 240 thousand tonnes of storage, our own railway with about 1,700 wagons and tankers, three sea terminals and 68 distributors covering the country.</a:t>
            </a:r>
          </a:p>
          <a:p>
            <a:r>
              <a:t>Everything is built and paid for. One link is missing: we see what distributors order, not what the farmer needs. GAia closes that gap: the farmer gets a fertilisation plan, it becomes a basket and an order at the distributor, and that data goes straight back into one production plan for the whole Group.</a:t>
            </a:r>
          </a:p>
          <a:p>
            <a:r>
              <a:t>The prize: from 45 to 60 percent in nitrates and from 42 to 60 percent in NPK, around 0.78 billion zloty of additional revenue per year. One percentage point of AN/CAN alone is about 39 million zloty. GAia is not an experiment, it is the necessary last step, and we invite you to build it with us.</a:t>
            </a:r>
          </a:p>
          <a:p>
            <a:r>
              <a:t>Sources: Grupa Azoty Strategy 2030, Fertilizer Strategy, integrated system map. Revenue figures are internal estimates to be confirmed in the 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hotoBase-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hotoB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685800"/>
          </a:xfrm>
          <a:prstGeom prst="rect">
            <a:avLst/>
          </a:prstGeom>
          <a:noFill/>
          <a:ln/>
        </p:spPr>
        <p:txBody>
          <a:bodyPr wrap="square" rtlCol="0"/>
          <a:lstStyle>
            <a:lvl1pPr algn="ctr" indent="0" marL="0">
              <a:buNone/>
              <a:defRPr lang="en-US" sz="3400" b="1" spc="100" kern="0" dirty="0">
                <a:solidFill>
                  <a:schemeClr val="tx1"/>
                </a:solidFill>
              </a:defRPr>
            </a:lvl1pPr>
          </a:lstStyle>
          <a:p>
            <a:pPr algn="ct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anvas"/>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GRUPA AZOTY · INVESTOR VIEW"/>
          <p:cNvSpPr/>
          <p:nvPr/>
        </p:nvSpPr>
        <p:spPr>
          <a:xfrm>
            <a:off x="254000" y="165100"/>
            <a:ext cx="8255000" cy="1397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l">
              <a:lnSpc>
                <a:spcPct val="100000"/>
              </a:lnSpc>
            </a:pPr>
            <a:r>
              <a:rPr sz="700" b="1" spc="150">
                <a:solidFill>
                  <a:srgbClr val="1F5F99"/>
                </a:solidFill>
                <a:latin typeface="Arial"/>
              </a:rPr>
              <a:t>GRUPA AZOTY · INVESTOR VIEW</a:t>
            </a:r>
          </a:p>
        </p:txBody>
      </p:sp>
      <p:sp>
        <p:nvSpPr>
          <p:cNvPr id="4" name="THE MACHINE IS BUILT. GAia IS ITS BRAIN"/>
          <p:cNvSpPr/>
          <p:nvPr/>
        </p:nvSpPr>
        <p:spPr>
          <a:xfrm>
            <a:off x="254000" y="317500"/>
            <a:ext cx="8255000" cy="3175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l">
              <a:lnSpc>
                <a:spcPct val="100000"/>
              </a:lnSpc>
            </a:pPr>
            <a:r>
              <a:rPr sz="2000" b="1">
                <a:solidFill>
                  <a:srgbClr val="183349"/>
                </a:solidFill>
                <a:latin typeface="Arial"/>
              </a:rPr>
              <a:t>THE MACHINE IS BUILT. GAia IS ITS BRAIN.</a:t>
            </a:r>
          </a:p>
        </p:txBody>
      </p:sp>
      <p:sp>
        <p:nvSpPr>
          <p:cNvPr id="5" name="Europe's #2 fertilizer group runs the en"/>
          <p:cNvSpPr/>
          <p:nvPr/>
        </p:nvSpPr>
        <p:spPr>
          <a:xfrm>
            <a:off x="254000" y="647700"/>
            <a:ext cx="8255000" cy="25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l">
              <a:lnSpc>
                <a:spcPct val="100000"/>
              </a:lnSpc>
            </a:pPr>
            <a:r>
              <a:rPr sz="800" b="0">
                <a:solidFill>
                  <a:srgbClr val="1E1E1E"/>
                </a:solidFill>
                <a:latin typeface="Arial"/>
              </a:rPr>
              <a:t>Europe's #2 fertilizer group runs the entire chain itself, from its own raw materials to 68 distributors. </a:t>
            </a:r>
            <a:r>
              <a:rPr sz="800" b="1">
                <a:solidFill>
                  <a:srgbClr val="1E1E1E"/>
                </a:solidFill>
                <a:latin typeface="Arial"/>
              </a:rPr>
              <a:t>The one link it does not own is the farmer's demand data.</a:t>
            </a:r>
            <a:r>
              <a:rPr sz="800" b="0">
                <a:solidFill>
                  <a:srgbClr val="1E1E1E"/>
                </a:solidFill>
                <a:latin typeface="Arial"/>
              </a:rPr>
              <a:t> GAia closes the loop.</a:t>
            </a:r>
          </a:p>
        </p:txBody>
      </p:sp>
      <p:sp>
        <p:nvSpPr>
          <p:cNvPr id="6" name="THE PRIZE     +PLN 0.78 bn    revenue"/>
          <p:cNvSpPr/>
          <p:nvPr/>
        </p:nvSpPr>
        <p:spPr>
          <a:xfrm>
            <a:off x="8699500" y="165100"/>
            <a:ext cx="3238500" cy="749300"/>
          </a:xfrm>
          <a:prstGeom prst="roundRect">
            <a:avLst>
              <a:gd name="adj" fmla="val 8000"/>
            </a:avLst>
          </a:prstGeom>
          <a:solidFill>
            <a:srgbClr val="1F7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2700" bIns="12700"/>
          <a:lstStyle/>
          <a:p>
            <a:pPr algn="l">
              <a:lnSpc>
                <a:spcPct val="100000"/>
              </a:lnSpc>
            </a:pPr>
            <a:r>
              <a:rPr sz="600" b="1" spc="100">
                <a:solidFill>
                  <a:srgbClr val="BFE6D4"/>
                </a:solidFill>
                <a:latin typeface="Arial"/>
              </a:rPr>
              <a:t>THE PRIZE</a:t>
            </a:r>
          </a:p>
          <a:p>
            <a:pPr algn="l">
              <a:lnSpc>
                <a:spcPct val="100000"/>
              </a:lnSpc>
            </a:pPr>
            <a:r>
              <a:rPr sz="1700" b="1">
                <a:solidFill>
                  <a:srgbClr val="FFFFFF"/>
                </a:solidFill>
                <a:latin typeface="Arial"/>
              </a:rPr>
              <a:t>+PLN 0.78 bn</a:t>
            </a:r>
            <a:r>
              <a:rPr sz="750" b="0">
                <a:solidFill>
                  <a:srgbClr val="FFFFFF"/>
                </a:solidFill>
                <a:latin typeface="Arial"/>
              </a:rPr>
              <a:t> revenue / year</a:t>
            </a:r>
          </a:p>
          <a:p>
            <a:pPr algn="l">
              <a:lnSpc>
                <a:spcPct val="100000"/>
              </a:lnSpc>
            </a:pPr>
            <a:r>
              <a:rPr sz="700" b="0">
                <a:solidFill>
                  <a:srgbClr val="FFFFFF"/>
                </a:solidFill>
                <a:latin typeface="Arial"/>
              </a:rPr>
              <a:t>AN/CAN 45% → 60% · NPK 42% → 60% · 1 p.p. AN/CAN ≈ PLN 39 m</a:t>
            </a:r>
          </a:p>
        </p:txBody>
      </p:sp>
      <p:sp>
        <p:nvSpPr>
          <p:cNvPr id="7" name="Shape"/>
          <p:cNvSpPr/>
          <p:nvPr/>
        </p:nvSpPr>
        <p:spPr>
          <a:xfrm>
            <a:off x="254000" y="1028700"/>
            <a:ext cx="11684000" cy="3162300"/>
          </a:xfrm>
          <a:prstGeom prst="roundRect">
            <a:avLst>
              <a:gd name="adj" fmla="val 2000"/>
            </a:avLst>
          </a:prstGeom>
          <a:solidFill>
            <a:srgbClr val="F3F4F5"/>
          </a:solidFill>
          <a:ln w="9525">
            <a:solidFill>
              <a:srgbClr val="D5D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HYSICAL VALUE CHAIN &amp;nbsp;&amp;nbsp; built"/>
          <p:cNvSpPr/>
          <p:nvPr/>
        </p:nvSpPr>
        <p:spPr>
          <a:xfrm>
            <a:off x="381000" y="1079500"/>
            <a:ext cx="7620000" cy="1651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l">
              <a:lnSpc>
                <a:spcPct val="100000"/>
              </a:lnSpc>
            </a:pPr>
            <a:r>
              <a:rPr sz="700" b="1" spc="100">
                <a:solidFill>
                  <a:srgbClr val="183349"/>
                </a:solidFill>
                <a:latin typeface="Arial"/>
              </a:rPr>
              <a:t>PHYSICAL VALUE CHAIN</a:t>
            </a:r>
            <a:r>
              <a:rPr sz="700" b="0">
                <a:solidFill>
                  <a:srgbClr val="183349"/>
                </a:solidFill>
                <a:latin typeface="Arial"/>
              </a:rPr>
              <a:t>  </a:t>
            </a:r>
            <a:r>
              <a:rPr sz="700" b="0">
                <a:solidFill>
                  <a:srgbClr val="5B6B76"/>
                </a:solidFill>
                <a:latin typeface="Arial"/>
              </a:rPr>
              <a:t>built · owned · paid for</a:t>
            </a:r>
          </a:p>
        </p:txBody>
      </p:sp>
      <p:sp>
        <p:nvSpPr>
          <p:cNvPr id="9" name="01 · RAW MATERIALS     S · P · NH₃"/>
          <p:cNvSpPr/>
          <p:nvPr/>
        </p:nvSpPr>
        <p:spPr>
          <a:xfrm>
            <a:off x="381000" y="1295400"/>
            <a:ext cx="1905000" cy="660400"/>
          </a:xfrm>
          <a:prstGeom prst="roundRect">
            <a:avLst>
              <a:gd name="adj" fmla="val 6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2700" bIns="12700"/>
          <a:lstStyle/>
          <a:p>
            <a:pPr algn="l">
              <a:lnSpc>
                <a:spcPct val="100000"/>
              </a:lnSpc>
            </a:pPr>
            <a:r>
              <a:rPr sz="600" b="1" spc="100">
                <a:solidFill>
                  <a:srgbClr val="9FC3E6"/>
                </a:solidFill>
                <a:latin typeface="Arial"/>
              </a:rPr>
              <a:t>01 · RAW MATERIALS</a:t>
            </a:r>
          </a:p>
          <a:p>
            <a:pPr algn="l">
              <a:lnSpc>
                <a:spcPct val="100000"/>
              </a:lnSpc>
            </a:pPr>
            <a:r>
              <a:rPr sz="1800" b="1">
                <a:solidFill>
                  <a:srgbClr val="FFFFFF"/>
                </a:solidFill>
                <a:latin typeface="Arial"/>
              </a:rPr>
              <a:t>S · P · NH₃</a:t>
            </a:r>
          </a:p>
          <a:p>
            <a:pPr algn="l">
              <a:lnSpc>
                <a:spcPct val="100000"/>
              </a:lnSpc>
            </a:pPr>
            <a:r>
              <a:rPr sz="700" b="1">
                <a:solidFill>
                  <a:srgbClr val="BFE6D4"/>
                </a:solidFill>
                <a:latin typeface="Arial"/>
              </a:rPr>
              <a:t>own inputs</a:t>
            </a:r>
          </a:p>
        </p:txBody>
      </p:sp>
      <p:sp>
        <p:nvSpPr>
          <p:cNvPr id="10" name="Siarkopol   own sulphur mine"/>
          <p:cNvSpPr/>
          <p:nvPr/>
        </p:nvSpPr>
        <p:spPr>
          <a:xfrm>
            <a:off x="381000" y="20701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Siarkopol</a:t>
            </a:r>
          </a:p>
          <a:p>
            <a:pPr algn="l">
              <a:lnSpc>
                <a:spcPct val="100000"/>
              </a:lnSpc>
            </a:pPr>
            <a:r>
              <a:rPr sz="650" b="0">
                <a:solidFill>
                  <a:srgbClr val="5B6B76"/>
                </a:solidFill>
                <a:latin typeface="Arial"/>
              </a:rPr>
              <a:t>own sulphur mine</a:t>
            </a:r>
          </a:p>
        </p:txBody>
      </p:sp>
      <p:sp>
        <p:nvSpPr>
          <p:cNvPr id="11" name="Gdańsk &amp;amp; Police   phosphate proces"/>
          <p:cNvSpPr/>
          <p:nvPr/>
        </p:nvSpPr>
        <p:spPr>
          <a:xfrm>
            <a:off x="381000" y="24765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Gdańsk &amp; Police</a:t>
            </a:r>
          </a:p>
          <a:p>
            <a:pPr algn="l">
              <a:lnSpc>
                <a:spcPct val="100000"/>
              </a:lnSpc>
            </a:pPr>
            <a:r>
              <a:rPr sz="650" b="0">
                <a:solidFill>
                  <a:srgbClr val="5B6B76"/>
                </a:solidFill>
                <a:latin typeface="Arial"/>
              </a:rPr>
              <a:t>phosphate processing</a:t>
            </a:r>
          </a:p>
        </p:txBody>
      </p:sp>
      <p:sp>
        <p:nvSpPr>
          <p:cNvPr id="12" name="Police sea terminal   ammonia import &amp;"/>
          <p:cNvSpPr/>
          <p:nvPr/>
        </p:nvSpPr>
        <p:spPr>
          <a:xfrm>
            <a:off x="381000" y="28829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Police sea terminal</a:t>
            </a:r>
          </a:p>
          <a:p>
            <a:pPr algn="l">
              <a:lnSpc>
                <a:spcPct val="100000"/>
              </a:lnSpc>
            </a:pPr>
            <a:r>
              <a:rPr sz="650" b="0">
                <a:solidFill>
                  <a:srgbClr val="5B6B76"/>
                </a:solidFill>
                <a:latin typeface="Arial"/>
              </a:rPr>
              <a:t>ammonia import &amp; storage</a:t>
            </a:r>
          </a:p>
        </p:txBody>
      </p:sp>
      <p:sp>
        <p:nvSpPr>
          <p:cNvPr id="13" name="Gas &amp;amp; energy   one shared Group ba"/>
          <p:cNvSpPr/>
          <p:nvPr/>
        </p:nvSpPr>
        <p:spPr>
          <a:xfrm>
            <a:off x="381000" y="32893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Gas &amp; energy</a:t>
            </a:r>
          </a:p>
          <a:p>
            <a:pPr algn="l">
              <a:lnSpc>
                <a:spcPct val="100000"/>
              </a:lnSpc>
            </a:pPr>
            <a:r>
              <a:rPr sz="650" b="0">
                <a:solidFill>
                  <a:srgbClr val="5B6B76"/>
                </a:solidFill>
                <a:latin typeface="Arial"/>
              </a:rPr>
              <a:t>one shared Group base</a:t>
            </a:r>
          </a:p>
        </p:txBody>
      </p:sp>
      <p:sp>
        <p:nvSpPr>
          <p:cNvPr id="14" name="02 · PRODUCTION     8.76 Mt     per y"/>
          <p:cNvSpPr/>
          <p:nvPr/>
        </p:nvSpPr>
        <p:spPr>
          <a:xfrm>
            <a:off x="2762250" y="1295400"/>
            <a:ext cx="1905000" cy="660400"/>
          </a:xfrm>
          <a:prstGeom prst="roundRect">
            <a:avLst>
              <a:gd name="adj" fmla="val 6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2700" bIns="12700"/>
          <a:lstStyle/>
          <a:p>
            <a:pPr algn="l">
              <a:lnSpc>
                <a:spcPct val="100000"/>
              </a:lnSpc>
            </a:pPr>
            <a:r>
              <a:rPr sz="600" b="1" spc="100">
                <a:solidFill>
                  <a:srgbClr val="9FC3E6"/>
                </a:solidFill>
                <a:latin typeface="Arial"/>
              </a:rPr>
              <a:t>02 · PRODUCTION</a:t>
            </a:r>
          </a:p>
          <a:p>
            <a:pPr algn="l">
              <a:lnSpc>
                <a:spcPct val="100000"/>
              </a:lnSpc>
            </a:pPr>
            <a:r>
              <a:rPr sz="1800" b="1">
                <a:solidFill>
                  <a:srgbClr val="FFFFFF"/>
                </a:solidFill>
                <a:latin typeface="Arial"/>
              </a:rPr>
              <a:t>8.76 Mt</a:t>
            </a:r>
          </a:p>
          <a:p>
            <a:pPr algn="l">
              <a:lnSpc>
                <a:spcPct val="100000"/>
              </a:lnSpc>
            </a:pPr>
            <a:r>
              <a:rPr sz="700" b="1">
                <a:solidFill>
                  <a:srgbClr val="BFE6D4"/>
                </a:solidFill>
                <a:latin typeface="Arial"/>
              </a:rPr>
              <a:t>per year · #2 in EU</a:t>
            </a:r>
          </a:p>
        </p:txBody>
      </p:sp>
      <p:sp>
        <p:nvSpPr>
          <p:cNvPr id="15" name="Puławy   nitrogen · AN/CAN · urea"/>
          <p:cNvSpPr/>
          <p:nvPr/>
        </p:nvSpPr>
        <p:spPr>
          <a:xfrm>
            <a:off x="2762250" y="20701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Puławy</a:t>
            </a:r>
          </a:p>
          <a:p>
            <a:pPr algn="l">
              <a:lnSpc>
                <a:spcPct val="100000"/>
              </a:lnSpc>
            </a:pPr>
            <a:r>
              <a:rPr sz="650" b="0">
                <a:solidFill>
                  <a:srgbClr val="5B6B76"/>
                </a:solidFill>
                <a:latin typeface="Arial"/>
              </a:rPr>
              <a:t>nitrogen · AN/CAN · urea</a:t>
            </a:r>
          </a:p>
        </p:txBody>
      </p:sp>
      <p:sp>
        <p:nvSpPr>
          <p:cNvPr id="16" name="Police   compound NPK · urea"/>
          <p:cNvSpPr/>
          <p:nvPr/>
        </p:nvSpPr>
        <p:spPr>
          <a:xfrm>
            <a:off x="2762250" y="24765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Police</a:t>
            </a:r>
          </a:p>
          <a:p>
            <a:pPr algn="l">
              <a:lnSpc>
                <a:spcPct val="100000"/>
              </a:lnSpc>
            </a:pPr>
            <a:r>
              <a:rPr sz="650" b="0">
                <a:solidFill>
                  <a:srgbClr val="5B6B76"/>
                </a:solidFill>
                <a:latin typeface="Arial"/>
              </a:rPr>
              <a:t>compound NPK · urea</a:t>
            </a:r>
          </a:p>
        </p:txBody>
      </p:sp>
      <p:sp>
        <p:nvSpPr>
          <p:cNvPr id="17" name="Kędzierzyn   nitrogen · NPK"/>
          <p:cNvSpPr/>
          <p:nvPr/>
        </p:nvSpPr>
        <p:spPr>
          <a:xfrm>
            <a:off x="2762250" y="28829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Kędzierzyn</a:t>
            </a:r>
          </a:p>
          <a:p>
            <a:pPr algn="l">
              <a:lnSpc>
                <a:spcPct val="100000"/>
              </a:lnSpc>
            </a:pPr>
            <a:r>
              <a:rPr sz="650" b="0">
                <a:solidFill>
                  <a:srgbClr val="5B6B76"/>
                </a:solidFill>
                <a:latin typeface="Arial"/>
              </a:rPr>
              <a:t>nitrogen · NPK</a:t>
            </a:r>
          </a:p>
        </p:txBody>
      </p:sp>
      <p:sp>
        <p:nvSpPr>
          <p:cNvPr id="18" name="Tarnów   nitrogen · AN/CAN"/>
          <p:cNvSpPr/>
          <p:nvPr/>
        </p:nvSpPr>
        <p:spPr>
          <a:xfrm>
            <a:off x="2762250" y="32893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Tarnów</a:t>
            </a:r>
          </a:p>
          <a:p>
            <a:pPr algn="l">
              <a:lnSpc>
                <a:spcPct val="100000"/>
              </a:lnSpc>
            </a:pPr>
            <a:r>
              <a:rPr sz="650" b="0">
                <a:solidFill>
                  <a:srgbClr val="5B6B76"/>
                </a:solidFill>
                <a:latin typeface="Arial"/>
              </a:rPr>
              <a:t>nitrogen · AN/CAN</a:t>
            </a:r>
          </a:p>
        </p:txBody>
      </p:sp>
      <p:sp>
        <p:nvSpPr>
          <p:cNvPr id="19" name="Gdańsk   phosphates"/>
          <p:cNvSpPr/>
          <p:nvPr/>
        </p:nvSpPr>
        <p:spPr>
          <a:xfrm>
            <a:off x="2762250" y="36957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Gdańsk</a:t>
            </a:r>
          </a:p>
          <a:p>
            <a:pPr algn="l">
              <a:lnSpc>
                <a:spcPct val="100000"/>
              </a:lnSpc>
            </a:pPr>
            <a:r>
              <a:rPr sz="650" b="0">
                <a:solidFill>
                  <a:srgbClr val="5B6B76"/>
                </a:solidFill>
                <a:latin typeface="Arial"/>
              </a:rPr>
              <a:t>phosphates</a:t>
            </a:r>
          </a:p>
        </p:txBody>
      </p:sp>
      <p:sp>
        <p:nvSpPr>
          <p:cNvPr id="20" name="03 · STORAGE &amp;amp; PACKING     ~240 k"/>
          <p:cNvSpPr/>
          <p:nvPr/>
        </p:nvSpPr>
        <p:spPr>
          <a:xfrm>
            <a:off x="5143500" y="1295400"/>
            <a:ext cx="1905000" cy="660400"/>
          </a:xfrm>
          <a:prstGeom prst="roundRect">
            <a:avLst>
              <a:gd name="adj" fmla="val 6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2700" bIns="12700"/>
          <a:lstStyle/>
          <a:p>
            <a:pPr algn="l">
              <a:lnSpc>
                <a:spcPct val="100000"/>
              </a:lnSpc>
            </a:pPr>
            <a:r>
              <a:rPr sz="600" b="1" spc="100">
                <a:solidFill>
                  <a:srgbClr val="9FC3E6"/>
                </a:solidFill>
                <a:latin typeface="Arial"/>
              </a:rPr>
              <a:t>03 · STORAGE &amp; PACKING</a:t>
            </a:r>
          </a:p>
          <a:p>
            <a:pPr algn="l">
              <a:lnSpc>
                <a:spcPct val="100000"/>
              </a:lnSpc>
            </a:pPr>
            <a:r>
              <a:rPr sz="1800" b="1">
                <a:solidFill>
                  <a:srgbClr val="FFFFFF"/>
                </a:solidFill>
                <a:latin typeface="Arial"/>
              </a:rPr>
              <a:t>~240 kt</a:t>
            </a:r>
          </a:p>
          <a:p>
            <a:pPr algn="l">
              <a:lnSpc>
                <a:spcPct val="100000"/>
              </a:lnSpc>
            </a:pPr>
            <a:r>
              <a:rPr sz="700" b="1">
                <a:solidFill>
                  <a:srgbClr val="BFE6D4"/>
                </a:solidFill>
                <a:latin typeface="Arial"/>
              </a:rPr>
              <a:t>warehouse capacity</a:t>
            </a:r>
          </a:p>
        </p:txBody>
      </p:sp>
      <p:sp>
        <p:nvSpPr>
          <p:cNvPr id="21" name="Solid fertilizers   ~240 kt in 4 plant"/>
          <p:cNvSpPr/>
          <p:nvPr/>
        </p:nvSpPr>
        <p:spPr>
          <a:xfrm>
            <a:off x="5143500" y="20701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Solid fertilizers</a:t>
            </a:r>
          </a:p>
          <a:p>
            <a:pPr algn="l">
              <a:lnSpc>
                <a:spcPct val="100000"/>
              </a:lnSpc>
            </a:pPr>
            <a:r>
              <a:rPr sz="650" b="0">
                <a:solidFill>
                  <a:srgbClr val="5B6B76"/>
                </a:solidFill>
                <a:latin typeface="Arial"/>
              </a:rPr>
              <a:t>~240 kt in 4 plants</a:t>
            </a:r>
          </a:p>
        </p:txBody>
      </p:sp>
      <p:sp>
        <p:nvSpPr>
          <p:cNvPr id="22" name="Liquid (RSM)   ~40 kt tank capacity"/>
          <p:cNvSpPr/>
          <p:nvPr/>
        </p:nvSpPr>
        <p:spPr>
          <a:xfrm>
            <a:off x="5143500" y="24765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Liquid (RSM)</a:t>
            </a:r>
          </a:p>
          <a:p>
            <a:pPr algn="l">
              <a:lnSpc>
                <a:spcPct val="100000"/>
              </a:lnSpc>
            </a:pPr>
            <a:r>
              <a:rPr sz="650" b="0">
                <a:solidFill>
                  <a:srgbClr val="5B6B76"/>
                </a:solidFill>
                <a:latin typeface="Arial"/>
              </a:rPr>
              <a:t>~40 kt tank capacity</a:t>
            </a:r>
          </a:p>
        </p:txBody>
      </p:sp>
      <p:sp>
        <p:nvSpPr>
          <p:cNvPr id="23" name="Automated palletising   Puławy 1,500 t"/>
          <p:cNvSpPr/>
          <p:nvPr/>
        </p:nvSpPr>
        <p:spPr>
          <a:xfrm>
            <a:off x="5143500" y="28829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Automated palletising</a:t>
            </a:r>
          </a:p>
          <a:p>
            <a:pPr algn="l">
              <a:lnSpc>
                <a:spcPct val="100000"/>
              </a:lnSpc>
            </a:pPr>
            <a:r>
              <a:rPr sz="650" b="0">
                <a:solidFill>
                  <a:srgbClr val="5B6B76"/>
                </a:solidFill>
                <a:latin typeface="Arial"/>
              </a:rPr>
              <a:t>Puławy 1,500 t/d · Tarnów 600 t/d</a:t>
            </a:r>
          </a:p>
        </p:txBody>
      </p:sp>
      <p:sp>
        <p:nvSpPr>
          <p:cNvPr id="24" name="Police · Kędzierzyn   automated lines"/>
          <p:cNvSpPr/>
          <p:nvPr/>
        </p:nvSpPr>
        <p:spPr>
          <a:xfrm>
            <a:off x="5143500" y="32893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Police · Kędzierzyn</a:t>
            </a:r>
          </a:p>
          <a:p>
            <a:pPr algn="l">
              <a:lnSpc>
                <a:spcPct val="100000"/>
              </a:lnSpc>
            </a:pPr>
            <a:r>
              <a:rPr sz="650" b="0">
                <a:solidFill>
                  <a:srgbClr val="5B6B76"/>
                </a:solidFill>
                <a:latin typeface="Arial"/>
              </a:rPr>
              <a:t>automated lines</a:t>
            </a:r>
          </a:p>
        </p:txBody>
      </p:sp>
      <p:sp>
        <p:nvSpPr>
          <p:cNvPr id="25" name="04 · LOGISTICS     ~1,700     own wag"/>
          <p:cNvSpPr/>
          <p:nvPr/>
        </p:nvSpPr>
        <p:spPr>
          <a:xfrm>
            <a:off x="7524750" y="1295400"/>
            <a:ext cx="1905000" cy="660400"/>
          </a:xfrm>
          <a:prstGeom prst="roundRect">
            <a:avLst>
              <a:gd name="adj" fmla="val 6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2700" bIns="12700"/>
          <a:lstStyle/>
          <a:p>
            <a:pPr algn="l">
              <a:lnSpc>
                <a:spcPct val="100000"/>
              </a:lnSpc>
            </a:pPr>
            <a:r>
              <a:rPr sz="600" b="1" spc="100">
                <a:solidFill>
                  <a:srgbClr val="9FC3E6"/>
                </a:solidFill>
                <a:latin typeface="Arial"/>
              </a:rPr>
              <a:t>04 · LOGISTICS</a:t>
            </a:r>
          </a:p>
          <a:p>
            <a:pPr algn="l">
              <a:lnSpc>
                <a:spcPct val="100000"/>
              </a:lnSpc>
            </a:pPr>
            <a:r>
              <a:rPr sz="1800" b="1">
                <a:solidFill>
                  <a:srgbClr val="FFFFFF"/>
                </a:solidFill>
                <a:latin typeface="Arial"/>
              </a:rPr>
              <a:t>~1,700</a:t>
            </a:r>
          </a:p>
          <a:p>
            <a:pPr algn="l">
              <a:lnSpc>
                <a:spcPct val="100000"/>
              </a:lnSpc>
            </a:pPr>
            <a:r>
              <a:rPr sz="700" b="1">
                <a:solidFill>
                  <a:srgbClr val="BFE6D4"/>
                </a:solidFill>
                <a:latin typeface="Arial"/>
              </a:rPr>
              <a:t>own wagons &amp; tankers</a:t>
            </a:r>
          </a:p>
        </p:txBody>
      </p:sp>
      <p:sp>
        <p:nvSpPr>
          <p:cNvPr id="26" name="GA Koltar   own rail operator · 3+ Mt/"/>
          <p:cNvSpPr/>
          <p:nvPr/>
        </p:nvSpPr>
        <p:spPr>
          <a:xfrm>
            <a:off x="7524750" y="20701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GA Koltar</a:t>
            </a:r>
          </a:p>
          <a:p>
            <a:pPr algn="l">
              <a:lnSpc>
                <a:spcPct val="100000"/>
              </a:lnSpc>
            </a:pPr>
            <a:r>
              <a:rPr sz="650" b="0">
                <a:solidFill>
                  <a:srgbClr val="5B6B76"/>
                </a:solidFill>
                <a:latin typeface="Arial"/>
              </a:rPr>
              <a:t>own rail operator · 3+ Mt/yr</a:t>
            </a:r>
          </a:p>
        </p:txBody>
      </p:sp>
      <p:sp>
        <p:nvSpPr>
          <p:cNvPr id="27" name="175+ km   of own rail sidings"/>
          <p:cNvSpPr/>
          <p:nvPr/>
        </p:nvSpPr>
        <p:spPr>
          <a:xfrm>
            <a:off x="7524750" y="24765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175+ km</a:t>
            </a:r>
          </a:p>
          <a:p>
            <a:pPr algn="l">
              <a:lnSpc>
                <a:spcPct val="100000"/>
              </a:lnSpc>
            </a:pPr>
            <a:r>
              <a:rPr sz="650" b="0">
                <a:solidFill>
                  <a:srgbClr val="5B6B76"/>
                </a:solidFill>
                <a:latin typeface="Arial"/>
              </a:rPr>
              <a:t>of own rail sidings</a:t>
            </a:r>
          </a:p>
        </p:txBody>
      </p:sp>
      <p:sp>
        <p:nvSpPr>
          <p:cNvPr id="28" name="3 sea terminals   Gdynia · Gdańsk · Po"/>
          <p:cNvSpPr/>
          <p:nvPr/>
        </p:nvSpPr>
        <p:spPr>
          <a:xfrm>
            <a:off x="7524750" y="28829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3 sea terminals</a:t>
            </a:r>
          </a:p>
          <a:p>
            <a:pPr algn="l">
              <a:lnSpc>
                <a:spcPct val="100000"/>
              </a:lnSpc>
            </a:pPr>
            <a:r>
              <a:rPr sz="650" b="0">
                <a:solidFill>
                  <a:srgbClr val="5B6B76"/>
                </a:solidFill>
                <a:latin typeface="Arial"/>
              </a:rPr>
              <a:t>Gdynia · Gdańsk · Police</a:t>
            </a:r>
          </a:p>
        </p:txBody>
      </p:sp>
      <p:sp>
        <p:nvSpPr>
          <p:cNvPr id="29" name="05 · MARKET     ~50%     of Polish fe"/>
          <p:cNvSpPr/>
          <p:nvPr/>
        </p:nvSpPr>
        <p:spPr>
          <a:xfrm>
            <a:off x="9906000" y="1295400"/>
            <a:ext cx="1905000" cy="660400"/>
          </a:xfrm>
          <a:prstGeom prst="roundRect">
            <a:avLst>
              <a:gd name="adj" fmla="val 6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2700" bIns="12700"/>
          <a:lstStyle/>
          <a:p>
            <a:pPr algn="l">
              <a:lnSpc>
                <a:spcPct val="100000"/>
              </a:lnSpc>
            </a:pPr>
            <a:r>
              <a:rPr sz="600" b="1" spc="100">
                <a:solidFill>
                  <a:srgbClr val="9FC3E6"/>
                </a:solidFill>
                <a:latin typeface="Arial"/>
              </a:rPr>
              <a:t>05 · MARKET</a:t>
            </a:r>
          </a:p>
          <a:p>
            <a:pPr algn="l">
              <a:lnSpc>
                <a:spcPct val="100000"/>
              </a:lnSpc>
            </a:pPr>
            <a:r>
              <a:rPr sz="1800" b="1">
                <a:solidFill>
                  <a:srgbClr val="FFFFFF"/>
                </a:solidFill>
                <a:latin typeface="Arial"/>
              </a:rPr>
              <a:t>~50%</a:t>
            </a:r>
          </a:p>
          <a:p>
            <a:pPr algn="l">
              <a:lnSpc>
                <a:spcPct val="100000"/>
              </a:lnSpc>
            </a:pPr>
            <a:r>
              <a:rPr sz="700" b="1">
                <a:solidFill>
                  <a:srgbClr val="BFE6D4"/>
                </a:solidFill>
                <a:latin typeface="Arial"/>
              </a:rPr>
              <a:t>of Polish fertilizers</a:t>
            </a:r>
          </a:p>
        </p:txBody>
      </p:sp>
      <p:sp>
        <p:nvSpPr>
          <p:cNvPr id="30" name="68 distributors   authorised, nationwi"/>
          <p:cNvSpPr/>
          <p:nvPr/>
        </p:nvSpPr>
        <p:spPr>
          <a:xfrm>
            <a:off x="9906000" y="20701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68 distributors</a:t>
            </a:r>
          </a:p>
          <a:p>
            <a:pPr algn="l">
              <a:lnSpc>
                <a:spcPct val="100000"/>
              </a:lnSpc>
            </a:pPr>
            <a:r>
              <a:rPr sz="650" b="0">
                <a:solidFill>
                  <a:srgbClr val="5B6B76"/>
                </a:solidFill>
                <a:latin typeface="Arial"/>
              </a:rPr>
              <a:t>authorised, nationwide</a:t>
            </a:r>
          </a:p>
        </p:txBody>
      </p:sp>
      <p:sp>
        <p:nvSpPr>
          <p:cNvPr id="31" name="Market share   AN/CAN 45% · NPK 42%"/>
          <p:cNvSpPr/>
          <p:nvPr/>
        </p:nvSpPr>
        <p:spPr>
          <a:xfrm>
            <a:off x="9906000" y="2476500"/>
            <a:ext cx="1905000" cy="355600"/>
          </a:xfrm>
          <a:prstGeom prst="roundRect">
            <a:avLst>
              <a:gd name="adj" fmla="val 10000"/>
            </a:avLst>
          </a:prstGeom>
          <a:solidFill>
            <a:srgbClr val="FFFFFF"/>
          </a:solidFill>
          <a:ln w="9525">
            <a:solidFill>
              <a:srgbClr val="C9D2D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183349"/>
                </a:solidFill>
                <a:latin typeface="Arial"/>
              </a:rPr>
              <a:t>Market share</a:t>
            </a:r>
          </a:p>
          <a:p>
            <a:pPr algn="l">
              <a:lnSpc>
                <a:spcPct val="100000"/>
              </a:lnSpc>
            </a:pPr>
            <a:r>
              <a:rPr sz="650" b="0">
                <a:solidFill>
                  <a:srgbClr val="5B6B76"/>
                </a:solidFill>
                <a:latin typeface="Arial"/>
              </a:rPr>
              <a:t>AN/CAN 45% · NPK 42%</a:t>
            </a:r>
          </a:p>
        </p:txBody>
      </p:sp>
      <p:sp>
        <p:nvSpPr>
          <p:cNvPr id="32" name="FARMERS   end customer · invisible tod"/>
          <p:cNvSpPr/>
          <p:nvPr/>
        </p:nvSpPr>
        <p:spPr>
          <a:xfrm>
            <a:off x="9906000" y="2882900"/>
            <a:ext cx="1905000" cy="355600"/>
          </a:xfrm>
          <a:prstGeom prst="roundRect">
            <a:avLst>
              <a:gd name="adj" fmla="val 10000"/>
            </a:avLst>
          </a:prstGeom>
          <a:solidFill>
            <a:srgbClr val="FFFFFF"/>
          </a:solidFill>
          <a:ln w="19050">
            <a:solidFill>
              <a:srgbClr val="B2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12700" bIns="12700"/>
          <a:lstStyle/>
          <a:p>
            <a:pPr algn="l">
              <a:lnSpc>
                <a:spcPct val="100000"/>
              </a:lnSpc>
            </a:pPr>
            <a:r>
              <a:rPr sz="750" b="1">
                <a:solidFill>
                  <a:srgbClr val="B23A3A"/>
                </a:solidFill>
                <a:latin typeface="Arial"/>
              </a:rPr>
              <a:t>FARMERS</a:t>
            </a:r>
          </a:p>
          <a:p>
            <a:pPr algn="l">
              <a:lnSpc>
                <a:spcPct val="100000"/>
              </a:lnSpc>
            </a:pPr>
            <a:r>
              <a:rPr sz="650" b="0">
                <a:solidFill>
                  <a:srgbClr val="B23A3A"/>
                </a:solidFill>
                <a:latin typeface="Arial"/>
              </a:rPr>
              <a:t>end customer · invisible today</a:t>
            </a:r>
          </a:p>
        </p:txBody>
      </p:sp>
      <p:sp>
        <p:nvSpPr>
          <p:cNvPr id="33" name="Shape"/>
          <p:cNvSpPr/>
          <p:nvPr/>
        </p:nvSpPr>
        <p:spPr>
          <a:xfrm>
            <a:off x="254000" y="4521200"/>
            <a:ext cx="11684000" cy="1244600"/>
          </a:xfrm>
          <a:prstGeom prst="roundRect">
            <a:avLst>
              <a:gd name="adj" fmla="val 4000"/>
            </a:avLst>
          </a:prstGeom>
          <a:solidFill>
            <a:srgbClr val="E6F2EC"/>
          </a:solidFill>
          <a:ln w="19050">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Aia &amp;nbsp;&amp;nbsp; DIGITAL DEMAND LAYER"/>
          <p:cNvSpPr/>
          <p:nvPr/>
        </p:nvSpPr>
        <p:spPr>
          <a:xfrm>
            <a:off x="2413000" y="4584700"/>
            <a:ext cx="7620000" cy="177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ctr">
              <a:lnSpc>
                <a:spcPct val="100000"/>
              </a:lnSpc>
            </a:pPr>
            <a:r>
              <a:rPr sz="1100" b="1">
                <a:solidFill>
                  <a:srgbClr val="1F7A5A"/>
                </a:solidFill>
                <a:latin typeface="Arial"/>
              </a:rPr>
              <a:t>GAia</a:t>
            </a:r>
            <a:r>
              <a:rPr sz="700" b="0">
                <a:solidFill>
                  <a:srgbClr val="183349"/>
                </a:solidFill>
                <a:latin typeface="Arial"/>
              </a:rPr>
              <a:t>  </a:t>
            </a:r>
            <a:r>
              <a:rPr sz="700" b="1" spc="100">
                <a:solidFill>
                  <a:srgbClr val="183349"/>
                </a:solidFill>
                <a:latin typeface="Arial"/>
              </a:rPr>
              <a:t>DIGITAL DEMAND LAYER</a:t>
            </a:r>
            <a:r>
              <a:rPr sz="700" b="0">
                <a:solidFill>
                  <a:srgbClr val="183349"/>
                </a:solidFill>
                <a:latin typeface="Arial"/>
              </a:rPr>
              <a:t>  </a:t>
            </a:r>
            <a:r>
              <a:rPr sz="700" b="1">
                <a:solidFill>
                  <a:srgbClr val="B23A3A"/>
                </a:solidFill>
                <a:latin typeface="Arial"/>
              </a:rPr>
              <a:t>· THE ONLY MISSING LINK · TO BE BUILT</a:t>
            </a:r>
          </a:p>
        </p:txBody>
      </p:sp>
      <p:sp>
        <p:nvSpPr>
          <p:cNvPr id="35" name="ONE GROUP PLAN   13 weeks: which plant,"/>
          <p:cNvSpPr/>
          <p:nvPr/>
        </p:nvSpPr>
        <p:spPr>
          <a:xfrm>
            <a:off x="381000" y="4851400"/>
            <a:ext cx="1587500" cy="736600"/>
          </a:xfrm>
          <a:prstGeom prst="roundRect">
            <a:avLst>
              <a:gd name="adj" fmla="val 10000"/>
            </a:avLst>
          </a:prstGeom>
          <a:solidFill>
            <a:srgbClr val="1F7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950" b="1">
                <a:solidFill>
                  <a:srgbClr val="FFFFFF"/>
                </a:solidFill>
                <a:latin typeface="Arial"/>
              </a:rPr>
              <a:t>ONE GROUP PLAN</a:t>
            </a:r>
          </a:p>
          <a:p>
            <a:pPr algn="ctr">
              <a:lnSpc>
                <a:spcPct val="100000"/>
              </a:lnSpc>
            </a:pPr>
            <a:r>
              <a:rPr sz="650" b="0">
                <a:solidFill>
                  <a:srgbClr val="E6F2EC"/>
                </a:solidFill>
                <a:latin typeface="Arial"/>
              </a:rPr>
              <a:t>13 weeks: which plant, warehouse, wagon</a:t>
            </a:r>
          </a:p>
        </p:txBody>
      </p:sp>
      <p:sp>
        <p:nvSpPr>
          <p:cNvPr id="36" name="Demand signal   real sell-out, not dist"/>
          <p:cNvSpPr/>
          <p:nvPr/>
        </p:nvSpPr>
        <p:spPr>
          <a:xfrm>
            <a:off x="2349500" y="4851400"/>
            <a:ext cx="1587500" cy="736600"/>
          </a:xfrm>
          <a:prstGeom prst="roundRect">
            <a:avLst>
              <a:gd name="adj" fmla="val 10000"/>
            </a:avLst>
          </a:prstGeom>
          <a:solidFill>
            <a:srgbClr val="FFFFFF"/>
          </a:solidFill>
          <a:ln w="14287">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850" b="1">
                <a:solidFill>
                  <a:srgbClr val="183349"/>
                </a:solidFill>
                <a:latin typeface="Arial"/>
              </a:rPr>
              <a:t>Demand signal</a:t>
            </a:r>
          </a:p>
          <a:p>
            <a:pPr algn="ctr">
              <a:lnSpc>
                <a:spcPct val="100000"/>
              </a:lnSpc>
            </a:pPr>
            <a:r>
              <a:rPr sz="650" b="0">
                <a:solidFill>
                  <a:srgbClr val="5B6B76"/>
                </a:solidFill>
                <a:latin typeface="Arial"/>
              </a:rPr>
              <a:t>real sell-out, not distributor stock</a:t>
            </a:r>
          </a:p>
        </p:txBody>
      </p:sp>
      <p:sp>
        <p:nvSpPr>
          <p:cNvPr id="37" name="Order via distributor   fulfilled by th"/>
          <p:cNvSpPr/>
          <p:nvPr/>
        </p:nvSpPr>
        <p:spPr>
          <a:xfrm>
            <a:off x="4318000" y="4851400"/>
            <a:ext cx="1587500" cy="736600"/>
          </a:xfrm>
          <a:prstGeom prst="roundRect">
            <a:avLst>
              <a:gd name="adj" fmla="val 10000"/>
            </a:avLst>
          </a:prstGeom>
          <a:solidFill>
            <a:srgbClr val="FFFFFF"/>
          </a:solidFill>
          <a:ln w="14287">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850" b="1">
                <a:solidFill>
                  <a:srgbClr val="183349"/>
                </a:solidFill>
                <a:latin typeface="Arial"/>
              </a:rPr>
              <a:t>Order via distributor</a:t>
            </a:r>
          </a:p>
          <a:p>
            <a:pPr algn="ctr">
              <a:lnSpc>
                <a:spcPct val="100000"/>
              </a:lnSpc>
            </a:pPr>
            <a:r>
              <a:rPr sz="650" b="0">
                <a:solidFill>
                  <a:srgbClr val="5B6B76"/>
                </a:solidFill>
                <a:latin typeface="Arial"/>
              </a:rPr>
              <a:t>fulfilled by the 68 partners</a:t>
            </a:r>
          </a:p>
        </p:txBody>
      </p:sp>
      <p:sp>
        <p:nvSpPr>
          <p:cNvPr id="38" name="Basket   product · volume · timing"/>
          <p:cNvSpPr/>
          <p:nvPr/>
        </p:nvSpPr>
        <p:spPr>
          <a:xfrm>
            <a:off x="6286500" y="4851400"/>
            <a:ext cx="1587500" cy="736600"/>
          </a:xfrm>
          <a:prstGeom prst="roundRect">
            <a:avLst>
              <a:gd name="adj" fmla="val 10000"/>
            </a:avLst>
          </a:prstGeom>
          <a:solidFill>
            <a:srgbClr val="FFFFFF"/>
          </a:solidFill>
          <a:ln w="14287">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850" b="1">
                <a:solidFill>
                  <a:srgbClr val="183349"/>
                </a:solidFill>
                <a:latin typeface="Arial"/>
              </a:rPr>
              <a:t>Basket</a:t>
            </a:r>
          </a:p>
          <a:p>
            <a:pPr algn="ctr">
              <a:lnSpc>
                <a:spcPct val="100000"/>
              </a:lnSpc>
            </a:pPr>
            <a:r>
              <a:rPr sz="650" b="0">
                <a:solidFill>
                  <a:srgbClr val="5B6B76"/>
                </a:solidFill>
                <a:latin typeface="Arial"/>
              </a:rPr>
              <a:t>product · volume · timing</a:t>
            </a:r>
          </a:p>
        </p:txBody>
      </p:sp>
      <p:sp>
        <p:nvSpPr>
          <p:cNvPr id="39" name="Fertilisation plan   per field, crop an"/>
          <p:cNvSpPr/>
          <p:nvPr/>
        </p:nvSpPr>
        <p:spPr>
          <a:xfrm>
            <a:off x="8255000" y="4851400"/>
            <a:ext cx="1587500" cy="736600"/>
          </a:xfrm>
          <a:prstGeom prst="roundRect">
            <a:avLst>
              <a:gd name="adj" fmla="val 10000"/>
            </a:avLst>
          </a:prstGeom>
          <a:solidFill>
            <a:srgbClr val="FFFFFF"/>
          </a:solidFill>
          <a:ln w="14287">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850" b="1">
                <a:solidFill>
                  <a:srgbClr val="183349"/>
                </a:solidFill>
                <a:latin typeface="Arial"/>
              </a:rPr>
              <a:t>Fertilisation plan</a:t>
            </a:r>
          </a:p>
          <a:p>
            <a:pPr algn="ctr">
              <a:lnSpc>
                <a:spcPct val="100000"/>
              </a:lnSpc>
            </a:pPr>
            <a:r>
              <a:rPr sz="650" b="0">
                <a:solidFill>
                  <a:srgbClr val="5B6B76"/>
                </a:solidFill>
                <a:latin typeface="Arial"/>
              </a:rPr>
              <a:t>per field, crop and soil</a:t>
            </a:r>
          </a:p>
        </p:txBody>
      </p:sp>
      <p:sp>
        <p:nvSpPr>
          <p:cNvPr id="40" name="Farmer   field data in, advice out"/>
          <p:cNvSpPr/>
          <p:nvPr/>
        </p:nvSpPr>
        <p:spPr>
          <a:xfrm>
            <a:off x="10223500" y="4851400"/>
            <a:ext cx="1587500" cy="736600"/>
          </a:xfrm>
          <a:prstGeom prst="roundRect">
            <a:avLst>
              <a:gd name="adj" fmla="val 10000"/>
            </a:avLst>
          </a:prstGeom>
          <a:solidFill>
            <a:srgbClr val="FFFFFF"/>
          </a:solidFill>
          <a:ln w="14287">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850" b="1">
                <a:solidFill>
                  <a:srgbClr val="183349"/>
                </a:solidFill>
                <a:latin typeface="Arial"/>
              </a:rPr>
              <a:t>Farmer</a:t>
            </a:r>
          </a:p>
          <a:p>
            <a:pPr algn="ctr">
              <a:lnSpc>
                <a:spcPct val="100000"/>
              </a:lnSpc>
            </a:pPr>
            <a:r>
              <a:rPr sz="650" b="0">
                <a:solidFill>
                  <a:srgbClr val="5B6B76"/>
                </a:solidFill>
                <a:latin typeface="Arial"/>
              </a:rPr>
              <a:t>field data in, advice out</a:t>
            </a:r>
          </a:p>
        </p:txBody>
      </p:sp>
      <p:sp>
        <p:nvSpPr>
          <p:cNvPr id="41" name="Shape"/>
          <p:cNvSpPr/>
          <p:nvPr/>
        </p:nvSpPr>
        <p:spPr>
          <a:xfrm>
            <a:off x="1333500" y="4343400"/>
            <a:ext cx="7143750" cy="25400"/>
          </a:xfrm>
          <a:prstGeom prst="rect">
            <a:avLst/>
          </a:prstGeom>
          <a:solidFill>
            <a:srgbClr val="1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NE PLAN DRIVES THE WHOLE CHAIN"/>
          <p:cNvSpPr/>
          <p:nvPr/>
        </p:nvSpPr>
        <p:spPr>
          <a:xfrm>
            <a:off x="3825875" y="4260850"/>
            <a:ext cx="2159000" cy="190500"/>
          </a:xfrm>
          <a:prstGeom prst="roundRect">
            <a:avLst>
              <a:gd name="adj" fmla="val 50000"/>
            </a:avLst>
          </a:prstGeom>
          <a:solidFill>
            <a:srgbClr val="FFFFFF"/>
          </a:solidFill>
          <a:ln w="19050">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1F7A5A"/>
                </a:solidFill>
                <a:latin typeface="Arial"/>
              </a:rPr>
              <a:t>ONE PLAN DRIVES THE WHOLE CHAIN</a:t>
            </a:r>
          </a:p>
        </p:txBody>
      </p:sp>
      <p:sp>
        <p:nvSpPr>
          <p:cNvPr id="43" name="ONE DATA BACKBONE, ALREADY IN PLACE &amp;nb"/>
          <p:cNvSpPr/>
          <p:nvPr/>
        </p:nvSpPr>
        <p:spPr>
          <a:xfrm>
            <a:off x="254000" y="5867400"/>
            <a:ext cx="11684000" cy="292100"/>
          </a:xfrm>
          <a:prstGeom prst="roundRect">
            <a:avLst>
              <a:gd name="adj" fmla="val 12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50" b="1" spc="100">
                <a:solidFill>
                  <a:srgbClr val="9FC3E6"/>
                </a:solidFill>
                <a:latin typeface="Arial"/>
              </a:rPr>
              <a:t>ONE DATA BACKBONE, ALREADY IN PLACE</a:t>
            </a:r>
            <a:r>
              <a:rPr sz="750" b="0">
                <a:solidFill>
                  <a:srgbClr val="FFFFFF"/>
                </a:solidFill>
                <a:latin typeface="Arial"/>
              </a:rPr>
              <a:t>   SAP (SD · MM · FI/CO · PP-PI · QM · PM)  ·  CRM  ·  distributor portal  ·  plant automation (OT)   </a:t>
            </a:r>
            <a:r>
              <a:rPr sz="750" b="1">
                <a:solidFill>
                  <a:srgbClr val="BFE6D4"/>
                </a:solidFill>
                <a:latin typeface="Arial"/>
              </a:rPr>
              <a:t>→ GAia plugs in, nothing is rebuilt</a:t>
            </a:r>
          </a:p>
        </p:txBody>
      </p:sp>
      <p:sp>
        <p:nvSpPr>
          <p:cNvPr id="44" name="WHY GAia IS INEVITABLE"/>
          <p:cNvSpPr/>
          <p:nvPr/>
        </p:nvSpPr>
        <p:spPr>
          <a:xfrm>
            <a:off x="254000" y="6261100"/>
            <a:ext cx="1905000" cy="3429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l">
              <a:lnSpc>
                <a:spcPct val="100000"/>
              </a:lnSpc>
            </a:pPr>
            <a:r>
              <a:rPr sz="700" b="1" spc="100">
                <a:solidFill>
                  <a:srgbClr val="183349"/>
                </a:solidFill>
                <a:latin typeface="Arial"/>
              </a:rPr>
              <a:t>WHY GAia IS INEVITABLE</a:t>
            </a:r>
          </a:p>
        </p:txBody>
      </p:sp>
      <p:sp>
        <p:nvSpPr>
          <p:cNvPr id="45" name="✓ Raw materials"/>
          <p:cNvSpPr/>
          <p:nvPr/>
        </p:nvSpPr>
        <p:spPr>
          <a:xfrm>
            <a:off x="1841500" y="6311900"/>
            <a:ext cx="952500" cy="241300"/>
          </a:xfrm>
          <a:prstGeom prst="roundRect">
            <a:avLst>
              <a:gd name="adj" fmla="val 50000"/>
            </a:avLst>
          </a:prstGeom>
          <a:solidFill>
            <a:srgbClr val="FFFFFF"/>
          </a:solidFill>
          <a:ln w="9525">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1F7A5A"/>
                </a:solidFill>
                <a:latin typeface="Arial"/>
              </a:rPr>
              <a:t>✓ Raw materials</a:t>
            </a:r>
          </a:p>
        </p:txBody>
      </p:sp>
      <p:sp>
        <p:nvSpPr>
          <p:cNvPr id="46" name="✓ Production"/>
          <p:cNvSpPr/>
          <p:nvPr/>
        </p:nvSpPr>
        <p:spPr>
          <a:xfrm>
            <a:off x="2857500" y="6311900"/>
            <a:ext cx="952500" cy="241300"/>
          </a:xfrm>
          <a:prstGeom prst="roundRect">
            <a:avLst>
              <a:gd name="adj" fmla="val 50000"/>
            </a:avLst>
          </a:prstGeom>
          <a:solidFill>
            <a:srgbClr val="FFFFFF"/>
          </a:solidFill>
          <a:ln w="9525">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1F7A5A"/>
                </a:solidFill>
                <a:latin typeface="Arial"/>
              </a:rPr>
              <a:t>✓ Production</a:t>
            </a:r>
          </a:p>
        </p:txBody>
      </p:sp>
      <p:sp>
        <p:nvSpPr>
          <p:cNvPr id="47" name="✓ Storage"/>
          <p:cNvSpPr/>
          <p:nvPr/>
        </p:nvSpPr>
        <p:spPr>
          <a:xfrm>
            <a:off x="3873500" y="6311900"/>
            <a:ext cx="952500" cy="241300"/>
          </a:xfrm>
          <a:prstGeom prst="roundRect">
            <a:avLst>
              <a:gd name="adj" fmla="val 50000"/>
            </a:avLst>
          </a:prstGeom>
          <a:solidFill>
            <a:srgbClr val="FFFFFF"/>
          </a:solidFill>
          <a:ln w="9525">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1F7A5A"/>
                </a:solidFill>
                <a:latin typeface="Arial"/>
              </a:rPr>
              <a:t>✓ Storage</a:t>
            </a:r>
          </a:p>
        </p:txBody>
      </p:sp>
      <p:sp>
        <p:nvSpPr>
          <p:cNvPr id="48" name="✓ Logistics"/>
          <p:cNvSpPr/>
          <p:nvPr/>
        </p:nvSpPr>
        <p:spPr>
          <a:xfrm>
            <a:off x="4889500" y="6311900"/>
            <a:ext cx="952500" cy="241300"/>
          </a:xfrm>
          <a:prstGeom prst="roundRect">
            <a:avLst>
              <a:gd name="adj" fmla="val 50000"/>
            </a:avLst>
          </a:prstGeom>
          <a:solidFill>
            <a:srgbClr val="FFFFFF"/>
          </a:solidFill>
          <a:ln w="9525">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1F7A5A"/>
                </a:solidFill>
                <a:latin typeface="Arial"/>
              </a:rPr>
              <a:t>✓ Logistics</a:t>
            </a:r>
          </a:p>
        </p:txBody>
      </p:sp>
      <p:sp>
        <p:nvSpPr>
          <p:cNvPr id="49" name="✓ Market reach"/>
          <p:cNvSpPr/>
          <p:nvPr/>
        </p:nvSpPr>
        <p:spPr>
          <a:xfrm>
            <a:off x="5905500" y="6311900"/>
            <a:ext cx="952500" cy="241300"/>
          </a:xfrm>
          <a:prstGeom prst="roundRect">
            <a:avLst>
              <a:gd name="adj" fmla="val 50000"/>
            </a:avLst>
          </a:prstGeom>
          <a:solidFill>
            <a:srgbClr val="FFFFFF"/>
          </a:solidFill>
          <a:ln w="9525">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1F7A5A"/>
                </a:solidFill>
                <a:latin typeface="Arial"/>
              </a:rPr>
              <a:t>✓ Market reach</a:t>
            </a:r>
          </a:p>
        </p:txBody>
      </p:sp>
      <p:sp>
        <p:nvSpPr>
          <p:cNvPr id="50" name="✗ Farmer data"/>
          <p:cNvSpPr/>
          <p:nvPr/>
        </p:nvSpPr>
        <p:spPr>
          <a:xfrm>
            <a:off x="6921500" y="6311900"/>
            <a:ext cx="952500" cy="241300"/>
          </a:xfrm>
          <a:prstGeom prst="roundRect">
            <a:avLst>
              <a:gd name="adj" fmla="val 50000"/>
            </a:avLst>
          </a:prstGeom>
          <a:solidFill>
            <a:srgbClr val="B23A3A"/>
          </a:solidFill>
          <a:ln w="9525">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12700" bIns="12700"/>
          <a:lstStyle/>
          <a:p>
            <a:pPr algn="ctr">
              <a:lnSpc>
                <a:spcPct val="100000"/>
              </a:lnSpc>
            </a:pPr>
            <a:r>
              <a:rPr sz="700" b="1">
                <a:solidFill>
                  <a:srgbClr val="FFFFFF"/>
                </a:solidFill>
                <a:latin typeface="Arial"/>
              </a:rPr>
              <a:t>✗ Farmer data</a:t>
            </a:r>
          </a:p>
        </p:txBody>
      </p:sp>
      <p:sp>
        <p:nvSpPr>
          <p:cNvPr id="51" name="THE INVITATION:  co-build the digital"/>
          <p:cNvSpPr/>
          <p:nvPr/>
        </p:nvSpPr>
        <p:spPr>
          <a:xfrm>
            <a:off x="8001000" y="6261100"/>
            <a:ext cx="3937000" cy="342900"/>
          </a:xfrm>
          <a:prstGeom prst="roundRect">
            <a:avLst>
              <a:gd name="adj" fmla="val 12000"/>
            </a:avLst>
          </a:prstGeom>
          <a:solidFill>
            <a:srgbClr val="FFFFFF"/>
          </a:solidFill>
          <a:ln w="19050">
            <a:solidFill>
              <a:srgbClr val="1833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2700" bIns="12700"/>
          <a:lstStyle/>
          <a:p>
            <a:pPr algn="l">
              <a:lnSpc>
                <a:spcPct val="100000"/>
              </a:lnSpc>
            </a:pPr>
            <a:r>
              <a:rPr sz="700" b="1">
                <a:solidFill>
                  <a:srgbClr val="183349"/>
                </a:solidFill>
                <a:latin typeface="Arial"/>
              </a:rPr>
              <a:t>THE INVITATION:</a:t>
            </a:r>
            <a:r>
              <a:rPr sz="700" b="0">
                <a:solidFill>
                  <a:srgbClr val="183349"/>
                </a:solidFill>
                <a:latin typeface="Arial"/>
              </a:rPr>
              <a:t> co-build the digital layer on top of Europe's #2 fertilizer network. The physical scale is already there.</a:t>
            </a:r>
          </a:p>
        </p:txBody>
      </p:sp>
      <p:sp>
        <p:nvSpPr>
          <p:cNvPr id="52" name="Sources: Grupa Azoty Strategy 2030, Fert"/>
          <p:cNvSpPr/>
          <p:nvPr/>
        </p:nvSpPr>
        <p:spPr>
          <a:xfrm>
            <a:off x="254000" y="6642100"/>
            <a:ext cx="11684000" cy="114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2700" bIns="12700"/>
          <a:lstStyle/>
          <a:p>
            <a:pPr algn="l">
              <a:lnSpc>
                <a:spcPct val="100000"/>
              </a:lnSpc>
            </a:pPr>
            <a:r>
              <a:rPr sz="550" b="0">
                <a:solidFill>
                  <a:srgbClr val="5B6B76"/>
                </a:solidFill>
                <a:latin typeface="Arial"/>
              </a:rPr>
              <a:t>Sources: Grupa Azoty Strategy 2030, Fertilizer Strategy, integrated system map. Revenue upside is an internal estimate, to be validated in a 90-day pilot.</a:t>
            </a:r>
          </a:p>
        </p:txBody>
      </p:sp>
      <p:cxnSp>
        <p:nvCxnSpPr>
          <p:cNvPr id="53" name="Arrow"/>
          <p:cNvCxnSpPr/>
          <p:nvPr/>
        </p:nvCxnSpPr>
        <p:spPr>
          <a:xfrm>
            <a:off x="2286000" y="1625600"/>
            <a:ext cx="476250" cy="0"/>
          </a:xfrm>
          <a:prstGeom prst="line">
            <a:avLst/>
          </a:prstGeom>
          <a:ln w="47625">
            <a:solidFill>
              <a:srgbClr val="18334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Arrow"/>
          <p:cNvCxnSpPr/>
          <p:nvPr/>
        </p:nvCxnSpPr>
        <p:spPr>
          <a:xfrm>
            <a:off x="4667250" y="1625600"/>
            <a:ext cx="476250" cy="0"/>
          </a:xfrm>
          <a:prstGeom prst="line">
            <a:avLst/>
          </a:prstGeom>
          <a:ln w="47625">
            <a:solidFill>
              <a:srgbClr val="18334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Arrow"/>
          <p:cNvCxnSpPr/>
          <p:nvPr/>
        </p:nvCxnSpPr>
        <p:spPr>
          <a:xfrm>
            <a:off x="7048500" y="1625600"/>
            <a:ext cx="476250" cy="0"/>
          </a:xfrm>
          <a:prstGeom prst="line">
            <a:avLst/>
          </a:prstGeom>
          <a:ln w="47625">
            <a:solidFill>
              <a:srgbClr val="18334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Arrow"/>
          <p:cNvCxnSpPr/>
          <p:nvPr/>
        </p:nvCxnSpPr>
        <p:spPr>
          <a:xfrm>
            <a:off x="9429750" y="1625600"/>
            <a:ext cx="476250" cy="0"/>
          </a:xfrm>
          <a:prstGeom prst="line">
            <a:avLst/>
          </a:prstGeom>
          <a:ln w="47625">
            <a:solidFill>
              <a:srgbClr val="18334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Arrow"/>
          <p:cNvCxnSpPr/>
          <p:nvPr/>
        </p:nvCxnSpPr>
        <p:spPr>
          <a:xfrm>
            <a:off x="2286000" y="3060700"/>
            <a:ext cx="238125" cy="0"/>
          </a:xfrm>
          <a:prstGeom prst="line">
            <a:avLst/>
          </a:prstGeom>
          <a:ln w="19050">
            <a:solidFill>
              <a:srgbClr val="1F5F99"/>
            </a:solidFill>
            <a:prstDash val="dash"/>
          </a:ln>
        </p:spPr>
        <p:style>
          <a:lnRef idx="2">
            <a:schemeClr val="accent1"/>
          </a:lnRef>
          <a:fillRef idx="0">
            <a:schemeClr val="accent1"/>
          </a:fillRef>
          <a:effectRef idx="1">
            <a:schemeClr val="accent1"/>
          </a:effectRef>
          <a:fontRef idx="minor">
            <a:schemeClr val="tx1"/>
          </a:fontRef>
        </p:style>
      </p:cxnSp>
      <p:cxnSp>
        <p:nvCxnSpPr>
          <p:cNvPr id="58" name="Arrow"/>
          <p:cNvCxnSpPr/>
          <p:nvPr/>
        </p:nvCxnSpPr>
        <p:spPr>
          <a:xfrm flipV="1">
            <a:off x="2524125" y="2247900"/>
            <a:ext cx="0" cy="812800"/>
          </a:xfrm>
          <a:prstGeom prst="line">
            <a:avLst/>
          </a:prstGeom>
          <a:ln w="19050">
            <a:solidFill>
              <a:srgbClr val="1F5F99"/>
            </a:solidFill>
            <a:prstDash val="dash"/>
          </a:ln>
        </p:spPr>
        <p:style>
          <a:lnRef idx="2">
            <a:schemeClr val="accent1"/>
          </a:lnRef>
          <a:fillRef idx="0">
            <a:schemeClr val="accent1"/>
          </a:fillRef>
          <a:effectRef idx="1">
            <a:schemeClr val="accent1"/>
          </a:effectRef>
          <a:fontRef idx="minor">
            <a:schemeClr val="tx1"/>
          </a:fontRef>
        </p:style>
      </p:cxnSp>
      <p:cxnSp>
        <p:nvCxnSpPr>
          <p:cNvPr id="59" name="Arrow"/>
          <p:cNvCxnSpPr/>
          <p:nvPr/>
        </p:nvCxnSpPr>
        <p:spPr>
          <a:xfrm>
            <a:off x="2524125" y="2247900"/>
            <a:ext cx="238125" cy="0"/>
          </a:xfrm>
          <a:prstGeom prst="line">
            <a:avLst/>
          </a:prstGeom>
          <a:ln w="19050">
            <a:solidFill>
              <a:srgbClr val="1F5F9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Arrow label"/>
          <p:cNvSpPr/>
          <p:nvPr/>
        </p:nvSpPr>
        <p:spPr>
          <a:xfrm>
            <a:off x="2320925" y="2546350"/>
            <a:ext cx="406400" cy="215900"/>
          </a:xfrm>
          <a:prstGeom prst="rect">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00000"/>
              </a:lnSpc>
            </a:pPr>
            <a:r>
              <a:rPr sz="550" b="1">
                <a:solidFill>
                  <a:srgbClr val="1F5F99"/>
                </a:solidFill>
                <a:latin typeface="Arial"/>
              </a:rPr>
              <a:t>NH₃ by</a:t>
            </a:r>
          </a:p>
          <a:p>
            <a:pPr algn="ctr">
              <a:lnSpc>
                <a:spcPct val="100000"/>
              </a:lnSpc>
            </a:pPr>
            <a:r>
              <a:rPr sz="550" b="1">
                <a:solidFill>
                  <a:srgbClr val="1F5F99"/>
                </a:solidFill>
                <a:latin typeface="Arial"/>
              </a:rPr>
              <a:t>own rail</a:t>
            </a:r>
          </a:p>
        </p:txBody>
      </p:sp>
      <p:cxnSp>
        <p:nvCxnSpPr>
          <p:cNvPr id="61" name="Arrow"/>
          <p:cNvCxnSpPr/>
          <p:nvPr/>
        </p:nvCxnSpPr>
        <p:spPr>
          <a:xfrm flipH="1">
            <a:off x="9842500" y="5219700"/>
            <a:ext cx="381000" cy="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Arrow"/>
          <p:cNvCxnSpPr/>
          <p:nvPr/>
        </p:nvCxnSpPr>
        <p:spPr>
          <a:xfrm flipH="1">
            <a:off x="7874000" y="5219700"/>
            <a:ext cx="381000" cy="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Arrow"/>
          <p:cNvCxnSpPr/>
          <p:nvPr/>
        </p:nvCxnSpPr>
        <p:spPr>
          <a:xfrm flipH="1">
            <a:off x="5905500" y="5219700"/>
            <a:ext cx="381000" cy="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Arrow"/>
          <p:cNvCxnSpPr/>
          <p:nvPr/>
        </p:nvCxnSpPr>
        <p:spPr>
          <a:xfrm flipH="1">
            <a:off x="3937000" y="5219700"/>
            <a:ext cx="381000" cy="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p:cNvCxnSpPr/>
          <p:nvPr/>
        </p:nvCxnSpPr>
        <p:spPr>
          <a:xfrm flipH="1">
            <a:off x="1968500" y="5219700"/>
            <a:ext cx="381000" cy="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p:cNvCxnSpPr/>
          <p:nvPr/>
        </p:nvCxnSpPr>
        <p:spPr>
          <a:xfrm>
            <a:off x="10858500" y="3238500"/>
            <a:ext cx="0" cy="161290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Arrow label"/>
          <p:cNvSpPr/>
          <p:nvPr/>
        </p:nvSpPr>
        <p:spPr>
          <a:xfrm>
            <a:off x="10033000" y="3968750"/>
            <a:ext cx="1651000" cy="152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00000"/>
              </a:lnSpc>
            </a:pPr>
            <a:r>
              <a:rPr sz="650" b="1">
                <a:solidFill>
                  <a:srgbClr val="1F7A5A"/>
                </a:solidFill>
                <a:latin typeface="Arial"/>
              </a:rPr>
              <a:t>farmer demand, visible for the first time</a:t>
            </a:r>
          </a:p>
        </p:txBody>
      </p:sp>
      <p:cxnSp>
        <p:nvCxnSpPr>
          <p:cNvPr id="68" name="Arrow"/>
          <p:cNvCxnSpPr/>
          <p:nvPr/>
        </p:nvCxnSpPr>
        <p:spPr>
          <a:xfrm flipV="1">
            <a:off x="1333500" y="4356100"/>
            <a:ext cx="0" cy="495300"/>
          </a:xfrm>
          <a:prstGeom prst="line">
            <a:avLst/>
          </a:prstGeom>
          <a:ln w="38100">
            <a:solidFill>
              <a:srgbClr val="1F7A5A"/>
            </a:solidFill>
          </a:ln>
        </p:spPr>
        <p:style>
          <a:lnRef idx="2">
            <a:schemeClr val="accent1"/>
          </a:lnRef>
          <a:fillRef idx="0">
            <a:schemeClr val="accent1"/>
          </a:fillRef>
          <a:effectRef idx="1">
            <a:schemeClr val="accent1"/>
          </a:effectRef>
          <a:fontRef idx="minor">
            <a:schemeClr val="tx1"/>
          </a:fontRef>
        </p:style>
      </p:cxnSp>
      <p:cxnSp>
        <p:nvCxnSpPr>
          <p:cNvPr id="69" name="Arrow"/>
          <p:cNvCxnSpPr/>
          <p:nvPr/>
        </p:nvCxnSpPr>
        <p:spPr>
          <a:xfrm flipV="1">
            <a:off x="1333500" y="3644900"/>
            <a:ext cx="0" cy="69850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Arrow"/>
          <p:cNvCxnSpPr/>
          <p:nvPr/>
        </p:nvCxnSpPr>
        <p:spPr>
          <a:xfrm flipV="1">
            <a:off x="3714512" y="4051300"/>
            <a:ext cx="238" cy="29210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Arrow"/>
          <p:cNvCxnSpPr/>
          <p:nvPr/>
        </p:nvCxnSpPr>
        <p:spPr>
          <a:xfrm flipH="1" flipV="1">
            <a:off x="6096000" y="3644900"/>
            <a:ext cx="238" cy="69850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Arrow"/>
          <p:cNvCxnSpPr/>
          <p:nvPr/>
        </p:nvCxnSpPr>
        <p:spPr>
          <a:xfrm flipV="1">
            <a:off x="8477250" y="3238500"/>
            <a:ext cx="0" cy="1104900"/>
          </a:xfrm>
          <a:prstGeom prst="line">
            <a:avLst/>
          </a:prstGeom>
          <a:ln w="28575">
            <a:solidFill>
              <a:srgbClr val="1F7A5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Grupa Azoty Top3">
  <a:themeElements>
    <a:clrScheme name="Grupa Azoty Top3">
      <a:dk1>
        <a:srgbClr val="1E1E1E"/>
      </a:dk1>
      <a:lt1>
        <a:srgbClr val="FFFFFF"/>
      </a:lt1>
      <a:dk2>
        <a:srgbClr val="183349"/>
      </a:dk2>
      <a:lt2>
        <a:srgbClr val="F3F4F5"/>
      </a:lt2>
      <a:accent1>
        <a:srgbClr val="1F7A5A"/>
      </a:accent1>
      <a:accent2>
        <a:srgbClr val="1F5F99"/>
      </a:accent2>
      <a:accent3>
        <a:srgbClr val="B23A3A"/>
      </a:accent3>
      <a:accent4>
        <a:srgbClr val="2B2B2B"/>
      </a:accent4>
      <a:accent5>
        <a:srgbClr val="E6F2EC"/>
      </a:accent5>
      <a:accent6>
        <a:srgbClr val="5B6B76"/>
      </a:accent6>
      <a:hlink>
        <a:srgbClr val="1F5F99"/>
      </a:hlink>
      <a:folHlink>
        <a:srgbClr val="5B6B76"/>
      </a:folHlink>
    </a:clrScheme>
    <a:fontScheme name="Grupa Azoty Top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 3 dla Prezesa</dc:title>
  <dc:subject>PptxGenJS Presentation</dc:subject>
  <dc:creator>PptxGenJS</dc:creator>
  <cp:lastModifiedBy>PptxGenJS</cp:lastModifiedBy>
  <cp:revision>1</cp:revision>
  <dcterms:created xsi:type="dcterms:W3CDTF">2026-10-06T14:59:38Z</dcterms:created>
  <dcterms:modified xsi:type="dcterms:W3CDTF">2026-10-06T14:59:38Z</dcterms:modified>
</cp:coreProperties>
</file>