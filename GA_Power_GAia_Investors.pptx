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op 3" id="{d801027f-ab78-c0c9-4be4-58f3516cf6f3}">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minute. Grupa Azoty is not a start-up looking for assets. It is the number two fertilizer producer in the European Union and holds about half of the Polish market.</a:t>
            </a:r>
          </a:p>
          <a:p>
            <a:r>
              <a:t>Look at the chain from left to right: our own raw materials, 8.76 million tonnes of capacity per year, around 240 thousand tonnes of storage, our own railway with about 1,700 wagons and tankers, three sea terminals and 68 distributors covering the country.</a:t>
            </a:r>
          </a:p>
          <a:p>
            <a:r>
              <a:t>Everything is built and paid for. One link is missing: we see what distributors order, not what the farmer needs. GAia closes that gap: the farmer gets a fertilisation plan, it becomes a basket and an order at the distributor, and that data goes straight back into one production plan for the whole Group.</a:t>
            </a:r>
          </a:p>
          <a:p>
            <a:r>
              <a:t>The prize: from 45 to 60 percent in nitrates and from 42 to 60 percent in NPK, around 0.78 billion zloty of additional revenue per year. One percentage point of AN/CAN alone is about 39 million zloty. GAia is not an experiment, it is the necessary last step, and we invite you to build it with us.</a:t>
            </a:r>
          </a:p>
          <a:p>
            <a:r>
              <a:t>Sources: Grupa Azoty Strategy 2030, Fertilizer Strategy, integrated system map. Revenue figures are internal estimates to be confirmed in the 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hotoBase-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hotoB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685800"/>
          </a:xfrm>
          <a:prstGeom prst="rect">
            <a:avLst/>
          </a:prstGeom>
          <a:noFill/>
          <a:ln/>
        </p:spPr>
        <p:txBody>
          <a:bodyPr wrap="square" rtlCol="0"/>
          <a:lstStyle>
            <a:lvl1pPr algn="ctr" indent="0" marL="0">
              <a:buNone/>
              <a:defRPr lang="en-US" sz="3400" b="1" spc="100" kern="0" dirty="0">
                <a:solidFill>
                  <a:schemeClr val="tx1"/>
                </a:solidFill>
              </a:defRPr>
            </a:lvl1pPr>
          </a:lstStyle>
          <a:p>
            <a:pPr algn="ct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685800"/>
          </a:xfrm>
          <a:prstGeom prst="rect">
            <a:avLst/>
          </a:prstGeom>
          <a:noFill/>
          <a:ln/>
        </p:spPr>
        <p:txBody>
          <a:bodyPr wrap="square" lIns="0" tIns="0" rIns="0" bIns="0" rtlCol="0" anchor="ctr"/>
          <a:lstStyle/>
          <a:p>
            <a:r>
              <a:rPr sz="3000" b="1"/>
              <a:t>THE POWER IS BUILT. GAia CONNECTS IT.</a:t>
            </a:r>
          </a:p>
        </p:txBody>
      </p:sp>
      <p:sp>
        <p:nvSpPr>
          <p:cNvPr id="3" name="TextBox 2"/>
          <p:cNvSpPr txBox="1"/>
          <p:nvPr/>
        </p:nvSpPr>
        <p:spPr>
          <a:xfrm>
            <a:off x="1097280" y="932688"/>
            <a:ext cx="9994392" cy="320040"/>
          </a:xfrm>
          <a:prstGeom prst="rect">
            <a:avLst/>
          </a:prstGeom>
          <a:noFill/>
        </p:spPr>
        <p:txBody>
          <a:bodyPr wrap="square" lIns="0" rIns="0" tIns="0" bIns="0" anchor="ctr">
            <a:spAutoFit/>
          </a:bodyPr>
          <a:lstStyle/>
          <a:p>
            <a:pPr algn="ctr"/>
            <a:r>
              <a:rPr sz="1400" b="0">
                <a:solidFill>
                  <a:srgbClr val="1E1E1E"/>
                </a:solidFill>
                <a:latin typeface="Arial"/>
              </a:rPr>
              <a:t>#2 fertilizer producer in the EU. Every link of the chain is ours, except one: the farmer.</a:t>
            </a:r>
          </a:p>
        </p:txBody>
      </p:sp>
      <p:sp>
        <p:nvSpPr>
          <p:cNvPr id="4" name="Rounded Rectangle 3"/>
          <p:cNvSpPr/>
          <p:nvPr/>
        </p:nvSpPr>
        <p:spPr>
          <a:xfrm>
            <a:off x="457200" y="1463040"/>
            <a:ext cx="2002536" cy="2176272"/>
          </a:xfrm>
          <a:prstGeom prst="roundRect">
            <a:avLst>
              <a:gd name="adj" fmla="val 4000"/>
            </a:avLst>
          </a:prstGeom>
          <a:solidFill>
            <a:srgbClr val="FFFFFF"/>
          </a:solidFill>
          <a:ln w="22225">
            <a:solidFill>
              <a:srgbClr val="1833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648" y="1618488"/>
            <a:ext cx="1728216" cy="201168"/>
          </a:xfrm>
          <a:prstGeom prst="rect">
            <a:avLst/>
          </a:prstGeom>
          <a:noFill/>
        </p:spPr>
        <p:txBody>
          <a:bodyPr wrap="square" lIns="0" rIns="0" tIns="0" bIns="0" anchor="t">
            <a:spAutoFit/>
          </a:bodyPr>
          <a:lstStyle/>
          <a:p>
            <a:pPr algn="l"/>
            <a:r>
              <a:rPr sz="950" b="1" spc="120">
                <a:solidFill>
                  <a:srgbClr val="1F5F99"/>
                </a:solidFill>
                <a:latin typeface="Arial"/>
              </a:rPr>
              <a:t>1 · RAW MATERIALS</a:t>
            </a:r>
          </a:p>
        </p:txBody>
      </p:sp>
      <p:sp>
        <p:nvSpPr>
          <p:cNvPr id="6" name="TextBox 5"/>
          <p:cNvSpPr txBox="1"/>
          <p:nvPr/>
        </p:nvSpPr>
        <p:spPr>
          <a:xfrm>
            <a:off x="612648" y="1874520"/>
            <a:ext cx="1728216" cy="457200"/>
          </a:xfrm>
          <a:prstGeom prst="rect">
            <a:avLst/>
          </a:prstGeom>
          <a:noFill/>
        </p:spPr>
        <p:txBody>
          <a:bodyPr wrap="square" lIns="0" rIns="0" tIns="0" bIns="0" anchor="ctr">
            <a:spAutoFit/>
          </a:bodyPr>
          <a:lstStyle/>
          <a:p>
            <a:pPr algn="l"/>
            <a:r>
              <a:rPr sz="2700" b="1">
                <a:solidFill>
                  <a:srgbClr val="183349"/>
                </a:solidFill>
                <a:latin typeface="Arial"/>
              </a:rPr>
              <a:t>S · P · NH₃</a:t>
            </a:r>
          </a:p>
        </p:txBody>
      </p:sp>
      <p:sp>
        <p:nvSpPr>
          <p:cNvPr id="7" name="TextBox 6"/>
          <p:cNvSpPr txBox="1"/>
          <p:nvPr/>
        </p:nvSpPr>
        <p:spPr>
          <a:xfrm>
            <a:off x="612648" y="2340864"/>
            <a:ext cx="1728216" cy="228600"/>
          </a:xfrm>
          <a:prstGeom prst="rect">
            <a:avLst/>
          </a:prstGeom>
          <a:noFill/>
        </p:spPr>
        <p:txBody>
          <a:bodyPr wrap="square" lIns="0" rIns="0" tIns="0" bIns="0" anchor="t">
            <a:spAutoFit/>
          </a:bodyPr>
          <a:lstStyle/>
          <a:p>
            <a:pPr algn="l"/>
            <a:r>
              <a:rPr sz="1100" b="1">
                <a:solidFill>
                  <a:srgbClr val="1F7A5A"/>
                </a:solidFill>
                <a:latin typeface="Arial"/>
              </a:rPr>
              <a:t>own inputs</a:t>
            </a:r>
          </a:p>
        </p:txBody>
      </p:sp>
      <p:sp>
        <p:nvSpPr>
          <p:cNvPr id="8" name="TextBox 7"/>
          <p:cNvSpPr txBox="1"/>
          <p:nvPr/>
        </p:nvSpPr>
        <p:spPr>
          <a:xfrm>
            <a:off x="612648" y="2651760"/>
            <a:ext cx="1728216" cy="868680"/>
          </a:xfrm>
          <a:prstGeom prst="rect">
            <a:avLst/>
          </a:prstGeom>
          <a:noFill/>
        </p:spPr>
        <p:txBody>
          <a:bodyPr wrap="square" lIns="0" rIns="0" tIns="0" bIns="0" anchor="t">
            <a:spAutoFit/>
          </a:bodyPr>
          <a:lstStyle/>
          <a:p>
            <a:pPr algn="l"/>
            <a:r>
              <a:rPr sz="1050" b="0">
                <a:solidFill>
                  <a:srgbClr val="1E1E1E"/>
                </a:solidFill>
                <a:latin typeface="Arial"/>
              </a:rPr>
              <a:t>Sulphur from Siarkopol, phosphates in Gdańsk &amp; Police, ammonia terminal in Police</a:t>
            </a:r>
          </a:p>
        </p:txBody>
      </p:sp>
      <p:sp>
        <p:nvSpPr>
          <p:cNvPr id="9" name="Right Arrow 8"/>
          <p:cNvSpPr/>
          <p:nvPr/>
        </p:nvSpPr>
        <p:spPr>
          <a:xfrm>
            <a:off x="2514600" y="2414016"/>
            <a:ext cx="205739" cy="274320"/>
          </a:xfrm>
          <a:prstGeom prst="rightArrow">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75204" y="1463040"/>
            <a:ext cx="2002536" cy="2176272"/>
          </a:xfrm>
          <a:prstGeom prst="roundRect">
            <a:avLst>
              <a:gd name="adj" fmla="val 4000"/>
            </a:avLst>
          </a:prstGeom>
          <a:solidFill>
            <a:srgbClr val="FFFFFF"/>
          </a:solidFill>
          <a:ln w="22225">
            <a:solidFill>
              <a:srgbClr val="1833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30652" y="1618488"/>
            <a:ext cx="1728216" cy="201168"/>
          </a:xfrm>
          <a:prstGeom prst="rect">
            <a:avLst/>
          </a:prstGeom>
          <a:noFill/>
        </p:spPr>
        <p:txBody>
          <a:bodyPr wrap="square" lIns="0" rIns="0" tIns="0" bIns="0" anchor="t">
            <a:spAutoFit/>
          </a:bodyPr>
          <a:lstStyle/>
          <a:p>
            <a:pPr algn="l"/>
            <a:r>
              <a:rPr sz="950" b="1" spc="120">
                <a:solidFill>
                  <a:srgbClr val="1F5F99"/>
                </a:solidFill>
                <a:latin typeface="Arial"/>
              </a:rPr>
              <a:t>2 · PRODUCTION</a:t>
            </a:r>
          </a:p>
        </p:txBody>
      </p:sp>
      <p:sp>
        <p:nvSpPr>
          <p:cNvPr id="12" name="TextBox 11"/>
          <p:cNvSpPr txBox="1"/>
          <p:nvPr/>
        </p:nvSpPr>
        <p:spPr>
          <a:xfrm>
            <a:off x="2930652" y="1874520"/>
            <a:ext cx="1728216" cy="457200"/>
          </a:xfrm>
          <a:prstGeom prst="rect">
            <a:avLst/>
          </a:prstGeom>
          <a:noFill/>
        </p:spPr>
        <p:txBody>
          <a:bodyPr wrap="square" lIns="0" rIns="0" tIns="0" bIns="0" anchor="ctr">
            <a:spAutoFit/>
          </a:bodyPr>
          <a:lstStyle/>
          <a:p>
            <a:pPr algn="l"/>
            <a:r>
              <a:rPr sz="2700" b="1">
                <a:solidFill>
                  <a:srgbClr val="183349"/>
                </a:solidFill>
                <a:latin typeface="Arial"/>
              </a:rPr>
              <a:t>8.76 Mt</a:t>
            </a:r>
          </a:p>
        </p:txBody>
      </p:sp>
      <p:sp>
        <p:nvSpPr>
          <p:cNvPr id="13" name="TextBox 12"/>
          <p:cNvSpPr txBox="1"/>
          <p:nvPr/>
        </p:nvSpPr>
        <p:spPr>
          <a:xfrm>
            <a:off x="2930652" y="2340864"/>
            <a:ext cx="1728216" cy="228600"/>
          </a:xfrm>
          <a:prstGeom prst="rect">
            <a:avLst/>
          </a:prstGeom>
          <a:noFill/>
        </p:spPr>
        <p:txBody>
          <a:bodyPr wrap="square" lIns="0" rIns="0" tIns="0" bIns="0" anchor="t">
            <a:spAutoFit/>
          </a:bodyPr>
          <a:lstStyle/>
          <a:p>
            <a:pPr algn="l"/>
            <a:r>
              <a:rPr sz="1100" b="1">
                <a:solidFill>
                  <a:srgbClr val="1F7A5A"/>
                </a:solidFill>
                <a:latin typeface="Arial"/>
              </a:rPr>
              <a:t>per year · #2 in EU</a:t>
            </a:r>
          </a:p>
        </p:txBody>
      </p:sp>
      <p:sp>
        <p:nvSpPr>
          <p:cNvPr id="14" name="TextBox 13"/>
          <p:cNvSpPr txBox="1"/>
          <p:nvPr/>
        </p:nvSpPr>
        <p:spPr>
          <a:xfrm>
            <a:off x="2930652" y="2651760"/>
            <a:ext cx="1728216" cy="868680"/>
          </a:xfrm>
          <a:prstGeom prst="rect">
            <a:avLst/>
          </a:prstGeom>
          <a:noFill/>
        </p:spPr>
        <p:txBody>
          <a:bodyPr wrap="square" lIns="0" rIns="0" tIns="0" bIns="0" anchor="t">
            <a:spAutoFit/>
          </a:bodyPr>
          <a:lstStyle/>
          <a:p>
            <a:pPr algn="l"/>
            <a:r>
              <a:rPr sz="1050" b="0">
                <a:solidFill>
                  <a:srgbClr val="1E1E1E"/>
                </a:solidFill>
                <a:latin typeface="Arial"/>
              </a:rPr>
              <a:t>Puławy, Police, Kędzierzyn, Tarnów, Gdańsk: one shared base of gas, energy, raw materials</a:t>
            </a:r>
          </a:p>
        </p:txBody>
      </p:sp>
      <p:sp>
        <p:nvSpPr>
          <p:cNvPr id="15" name="Right Arrow 14"/>
          <p:cNvSpPr/>
          <p:nvPr/>
        </p:nvSpPr>
        <p:spPr>
          <a:xfrm>
            <a:off x="4832603" y="2414016"/>
            <a:ext cx="205739" cy="274320"/>
          </a:xfrm>
          <a:prstGeom prst="rightArrow">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93208" y="1463040"/>
            <a:ext cx="2002536" cy="2176272"/>
          </a:xfrm>
          <a:prstGeom prst="roundRect">
            <a:avLst>
              <a:gd name="adj" fmla="val 4000"/>
            </a:avLst>
          </a:prstGeom>
          <a:solidFill>
            <a:srgbClr val="FFFFFF"/>
          </a:solidFill>
          <a:ln w="22225">
            <a:solidFill>
              <a:srgbClr val="1833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6" y="1618488"/>
            <a:ext cx="1728216" cy="201168"/>
          </a:xfrm>
          <a:prstGeom prst="rect">
            <a:avLst/>
          </a:prstGeom>
          <a:noFill/>
        </p:spPr>
        <p:txBody>
          <a:bodyPr wrap="square" lIns="0" rIns="0" tIns="0" bIns="0" anchor="t">
            <a:spAutoFit/>
          </a:bodyPr>
          <a:lstStyle/>
          <a:p>
            <a:pPr algn="l"/>
            <a:r>
              <a:rPr sz="950" b="1" spc="120">
                <a:solidFill>
                  <a:srgbClr val="1F5F99"/>
                </a:solidFill>
                <a:latin typeface="Arial"/>
              </a:rPr>
              <a:t>3 · STORAGE</a:t>
            </a:r>
          </a:p>
        </p:txBody>
      </p:sp>
      <p:sp>
        <p:nvSpPr>
          <p:cNvPr id="18" name="TextBox 17"/>
          <p:cNvSpPr txBox="1"/>
          <p:nvPr/>
        </p:nvSpPr>
        <p:spPr>
          <a:xfrm>
            <a:off x="5248656" y="1874520"/>
            <a:ext cx="1728216" cy="457200"/>
          </a:xfrm>
          <a:prstGeom prst="rect">
            <a:avLst/>
          </a:prstGeom>
          <a:noFill/>
        </p:spPr>
        <p:txBody>
          <a:bodyPr wrap="square" lIns="0" rIns="0" tIns="0" bIns="0" anchor="ctr">
            <a:spAutoFit/>
          </a:bodyPr>
          <a:lstStyle/>
          <a:p>
            <a:pPr algn="l"/>
            <a:r>
              <a:rPr sz="2700" b="1">
                <a:solidFill>
                  <a:srgbClr val="183349"/>
                </a:solidFill>
                <a:latin typeface="Arial"/>
              </a:rPr>
              <a:t>~240 kt</a:t>
            </a:r>
          </a:p>
        </p:txBody>
      </p:sp>
      <p:sp>
        <p:nvSpPr>
          <p:cNvPr id="19" name="TextBox 18"/>
          <p:cNvSpPr txBox="1"/>
          <p:nvPr/>
        </p:nvSpPr>
        <p:spPr>
          <a:xfrm>
            <a:off x="5248656" y="2340864"/>
            <a:ext cx="1728216" cy="228600"/>
          </a:xfrm>
          <a:prstGeom prst="rect">
            <a:avLst/>
          </a:prstGeom>
          <a:noFill/>
        </p:spPr>
        <p:txBody>
          <a:bodyPr wrap="square" lIns="0" rIns="0" tIns="0" bIns="0" anchor="t">
            <a:spAutoFit/>
          </a:bodyPr>
          <a:lstStyle/>
          <a:p>
            <a:pPr algn="l"/>
            <a:r>
              <a:rPr sz="1100" b="1">
                <a:solidFill>
                  <a:srgbClr val="1F7A5A"/>
                </a:solidFill>
                <a:latin typeface="Arial"/>
              </a:rPr>
              <a:t>warehouse capacity</a:t>
            </a:r>
          </a:p>
        </p:txBody>
      </p:sp>
      <p:sp>
        <p:nvSpPr>
          <p:cNvPr id="20" name="TextBox 19"/>
          <p:cNvSpPr txBox="1"/>
          <p:nvPr/>
        </p:nvSpPr>
        <p:spPr>
          <a:xfrm>
            <a:off x="5248656" y="2651760"/>
            <a:ext cx="1728216" cy="868680"/>
          </a:xfrm>
          <a:prstGeom prst="rect">
            <a:avLst/>
          </a:prstGeom>
          <a:noFill/>
        </p:spPr>
        <p:txBody>
          <a:bodyPr wrap="square" lIns="0" rIns="0" tIns="0" bIns="0" anchor="t">
            <a:spAutoFit/>
          </a:bodyPr>
          <a:lstStyle/>
          <a:p>
            <a:pPr algn="l"/>
            <a:r>
              <a:rPr sz="1050" b="0">
                <a:solidFill>
                  <a:srgbClr val="1E1E1E"/>
                </a:solidFill>
                <a:latin typeface="Arial"/>
              </a:rPr>
              <a:t>+ 40 kt liquid fertilizer (RSM), automated palletising lines in 4 plants</a:t>
            </a:r>
          </a:p>
        </p:txBody>
      </p:sp>
      <p:sp>
        <p:nvSpPr>
          <p:cNvPr id="21" name="Right Arrow 20"/>
          <p:cNvSpPr/>
          <p:nvPr/>
        </p:nvSpPr>
        <p:spPr>
          <a:xfrm>
            <a:off x="7150607" y="2414016"/>
            <a:ext cx="205739" cy="274320"/>
          </a:xfrm>
          <a:prstGeom prst="rightArrow">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11212" y="1463040"/>
            <a:ext cx="2002536" cy="2176272"/>
          </a:xfrm>
          <a:prstGeom prst="roundRect">
            <a:avLst>
              <a:gd name="adj" fmla="val 4000"/>
            </a:avLst>
          </a:prstGeom>
          <a:solidFill>
            <a:srgbClr val="FFFFFF"/>
          </a:solidFill>
          <a:ln w="22225">
            <a:solidFill>
              <a:srgbClr val="1833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66660" y="1618488"/>
            <a:ext cx="1728216" cy="201168"/>
          </a:xfrm>
          <a:prstGeom prst="rect">
            <a:avLst/>
          </a:prstGeom>
          <a:noFill/>
        </p:spPr>
        <p:txBody>
          <a:bodyPr wrap="square" lIns="0" rIns="0" tIns="0" bIns="0" anchor="t">
            <a:spAutoFit/>
          </a:bodyPr>
          <a:lstStyle/>
          <a:p>
            <a:pPr algn="l"/>
            <a:r>
              <a:rPr sz="950" b="1" spc="120">
                <a:solidFill>
                  <a:srgbClr val="1F5F99"/>
                </a:solidFill>
                <a:latin typeface="Arial"/>
              </a:rPr>
              <a:t>4 · LOGISTICS</a:t>
            </a:r>
          </a:p>
        </p:txBody>
      </p:sp>
      <p:sp>
        <p:nvSpPr>
          <p:cNvPr id="24" name="TextBox 23"/>
          <p:cNvSpPr txBox="1"/>
          <p:nvPr/>
        </p:nvSpPr>
        <p:spPr>
          <a:xfrm>
            <a:off x="7566660" y="1874520"/>
            <a:ext cx="1728216" cy="457200"/>
          </a:xfrm>
          <a:prstGeom prst="rect">
            <a:avLst/>
          </a:prstGeom>
          <a:noFill/>
        </p:spPr>
        <p:txBody>
          <a:bodyPr wrap="square" lIns="0" rIns="0" tIns="0" bIns="0" anchor="ctr">
            <a:spAutoFit/>
          </a:bodyPr>
          <a:lstStyle/>
          <a:p>
            <a:pPr algn="l"/>
            <a:r>
              <a:rPr sz="2700" b="1">
                <a:solidFill>
                  <a:srgbClr val="183349"/>
                </a:solidFill>
                <a:latin typeface="Arial"/>
              </a:rPr>
              <a:t>~1,700</a:t>
            </a:r>
          </a:p>
        </p:txBody>
      </p:sp>
      <p:sp>
        <p:nvSpPr>
          <p:cNvPr id="25" name="TextBox 24"/>
          <p:cNvSpPr txBox="1"/>
          <p:nvPr/>
        </p:nvSpPr>
        <p:spPr>
          <a:xfrm>
            <a:off x="7566660" y="2340864"/>
            <a:ext cx="1728216" cy="228600"/>
          </a:xfrm>
          <a:prstGeom prst="rect">
            <a:avLst/>
          </a:prstGeom>
          <a:noFill/>
        </p:spPr>
        <p:txBody>
          <a:bodyPr wrap="square" lIns="0" rIns="0" tIns="0" bIns="0" anchor="t">
            <a:spAutoFit/>
          </a:bodyPr>
          <a:lstStyle/>
          <a:p>
            <a:pPr algn="l"/>
            <a:r>
              <a:rPr sz="1100" b="1">
                <a:solidFill>
                  <a:srgbClr val="1F7A5A"/>
                </a:solidFill>
                <a:latin typeface="Arial"/>
              </a:rPr>
              <a:t>own wagons &amp; tankers</a:t>
            </a:r>
          </a:p>
        </p:txBody>
      </p:sp>
      <p:sp>
        <p:nvSpPr>
          <p:cNvPr id="26" name="TextBox 25"/>
          <p:cNvSpPr txBox="1"/>
          <p:nvPr/>
        </p:nvSpPr>
        <p:spPr>
          <a:xfrm>
            <a:off x="7566660" y="2651760"/>
            <a:ext cx="1728216" cy="868680"/>
          </a:xfrm>
          <a:prstGeom prst="rect">
            <a:avLst/>
          </a:prstGeom>
          <a:noFill/>
        </p:spPr>
        <p:txBody>
          <a:bodyPr wrap="square" lIns="0" rIns="0" tIns="0" bIns="0" anchor="t">
            <a:spAutoFit/>
          </a:bodyPr>
          <a:lstStyle/>
          <a:p>
            <a:pPr algn="l"/>
            <a:r>
              <a:rPr sz="1050" b="0">
                <a:solidFill>
                  <a:srgbClr val="1E1E1E"/>
                </a:solidFill>
                <a:latin typeface="Arial"/>
              </a:rPr>
              <a:t>Koltar rail operator, 175+ km of sidings, 3 sea terminals: Gdynia, Gdańsk, Police</a:t>
            </a:r>
          </a:p>
        </p:txBody>
      </p:sp>
      <p:sp>
        <p:nvSpPr>
          <p:cNvPr id="27" name="Right Arrow 26"/>
          <p:cNvSpPr/>
          <p:nvPr/>
        </p:nvSpPr>
        <p:spPr>
          <a:xfrm>
            <a:off x="9468612" y="2414016"/>
            <a:ext cx="205739" cy="274320"/>
          </a:xfrm>
          <a:prstGeom prst="rightArrow">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729216" y="1463040"/>
            <a:ext cx="2002536" cy="2176272"/>
          </a:xfrm>
          <a:prstGeom prst="roundRect">
            <a:avLst>
              <a:gd name="adj" fmla="val 4000"/>
            </a:avLst>
          </a:prstGeom>
          <a:solidFill>
            <a:srgbClr val="FFFFFF"/>
          </a:solidFill>
          <a:ln w="22225">
            <a:solidFill>
              <a:srgbClr val="1833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84664" y="1618488"/>
            <a:ext cx="1728216" cy="201168"/>
          </a:xfrm>
          <a:prstGeom prst="rect">
            <a:avLst/>
          </a:prstGeom>
          <a:noFill/>
        </p:spPr>
        <p:txBody>
          <a:bodyPr wrap="square" lIns="0" rIns="0" tIns="0" bIns="0" anchor="t">
            <a:spAutoFit/>
          </a:bodyPr>
          <a:lstStyle/>
          <a:p>
            <a:pPr algn="l"/>
            <a:r>
              <a:rPr sz="950" b="1" spc="120">
                <a:solidFill>
                  <a:srgbClr val="1F5F99"/>
                </a:solidFill>
                <a:latin typeface="Arial"/>
              </a:rPr>
              <a:t>5 · MARKET</a:t>
            </a:r>
          </a:p>
        </p:txBody>
      </p:sp>
      <p:sp>
        <p:nvSpPr>
          <p:cNvPr id="30" name="TextBox 29"/>
          <p:cNvSpPr txBox="1"/>
          <p:nvPr/>
        </p:nvSpPr>
        <p:spPr>
          <a:xfrm>
            <a:off x="9884664" y="1874520"/>
            <a:ext cx="1728216" cy="457200"/>
          </a:xfrm>
          <a:prstGeom prst="rect">
            <a:avLst/>
          </a:prstGeom>
          <a:noFill/>
        </p:spPr>
        <p:txBody>
          <a:bodyPr wrap="square" lIns="0" rIns="0" tIns="0" bIns="0" anchor="ctr">
            <a:spAutoFit/>
          </a:bodyPr>
          <a:lstStyle/>
          <a:p>
            <a:pPr algn="l"/>
            <a:r>
              <a:rPr sz="2700" b="1">
                <a:solidFill>
                  <a:srgbClr val="183349"/>
                </a:solidFill>
                <a:latin typeface="Arial"/>
              </a:rPr>
              <a:t>~50%</a:t>
            </a:r>
          </a:p>
        </p:txBody>
      </p:sp>
      <p:sp>
        <p:nvSpPr>
          <p:cNvPr id="31" name="TextBox 30"/>
          <p:cNvSpPr txBox="1"/>
          <p:nvPr/>
        </p:nvSpPr>
        <p:spPr>
          <a:xfrm>
            <a:off x="9884664" y="2340864"/>
            <a:ext cx="1728216" cy="228600"/>
          </a:xfrm>
          <a:prstGeom prst="rect">
            <a:avLst/>
          </a:prstGeom>
          <a:noFill/>
        </p:spPr>
        <p:txBody>
          <a:bodyPr wrap="square" lIns="0" rIns="0" tIns="0" bIns="0" anchor="t">
            <a:spAutoFit/>
          </a:bodyPr>
          <a:lstStyle/>
          <a:p>
            <a:pPr algn="l"/>
            <a:r>
              <a:rPr sz="1100" b="1">
                <a:solidFill>
                  <a:srgbClr val="1F7A5A"/>
                </a:solidFill>
                <a:latin typeface="Arial"/>
              </a:rPr>
              <a:t>of Polish fertilizers</a:t>
            </a:r>
          </a:p>
        </p:txBody>
      </p:sp>
      <p:sp>
        <p:nvSpPr>
          <p:cNvPr id="32" name="TextBox 31"/>
          <p:cNvSpPr txBox="1"/>
          <p:nvPr/>
        </p:nvSpPr>
        <p:spPr>
          <a:xfrm>
            <a:off x="9884664" y="2651760"/>
            <a:ext cx="1728216" cy="868680"/>
          </a:xfrm>
          <a:prstGeom prst="rect">
            <a:avLst/>
          </a:prstGeom>
          <a:noFill/>
        </p:spPr>
        <p:txBody>
          <a:bodyPr wrap="square" lIns="0" rIns="0" tIns="0" bIns="0" anchor="t">
            <a:spAutoFit/>
          </a:bodyPr>
          <a:lstStyle/>
          <a:p>
            <a:pPr algn="l"/>
            <a:r>
              <a:rPr sz="1050" b="0">
                <a:solidFill>
                  <a:srgbClr val="1E1E1E"/>
                </a:solidFill>
                <a:latin typeface="Arial"/>
              </a:rPr>
              <a:t>68 authorised distributors covering the whole country, AN/CAN 45%, NPK 42%</a:t>
            </a:r>
          </a:p>
        </p:txBody>
      </p:sp>
      <p:sp>
        <p:nvSpPr>
          <p:cNvPr id="33" name="Down Arrow 32"/>
          <p:cNvSpPr/>
          <p:nvPr/>
        </p:nvSpPr>
        <p:spPr>
          <a:xfrm>
            <a:off x="10575036" y="3685032"/>
            <a:ext cx="310896" cy="493776"/>
          </a:xfrm>
          <a:prstGeom prst="downArrow">
            <a:avLst/>
          </a:prstGeom>
          <a:solidFill>
            <a:srgbClr val="1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3621024" y="3685032"/>
            <a:ext cx="310896" cy="493776"/>
          </a:xfrm>
          <a:prstGeom prst="upArrow">
            <a:avLst/>
          </a:prstGeom>
          <a:solidFill>
            <a:srgbClr val="1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98764" y="3730752"/>
            <a:ext cx="2103120" cy="411480"/>
          </a:xfrm>
          <a:prstGeom prst="rect">
            <a:avLst/>
          </a:prstGeom>
          <a:noFill/>
        </p:spPr>
        <p:txBody>
          <a:bodyPr wrap="square" lIns="0" rIns="0" tIns="0" bIns="0" anchor="ctr">
            <a:spAutoFit/>
          </a:bodyPr>
          <a:lstStyle/>
          <a:p>
            <a:pPr algn="r"/>
            <a:r>
              <a:rPr sz="1000" b="1">
                <a:solidFill>
                  <a:srgbClr val="1F7A5A"/>
                </a:solidFill>
                <a:latin typeface="Arial"/>
              </a:rPr>
              <a:t>farmer demand, visible for the first time</a:t>
            </a:r>
          </a:p>
        </p:txBody>
      </p:sp>
      <p:sp>
        <p:nvSpPr>
          <p:cNvPr id="36" name="TextBox 35"/>
          <p:cNvSpPr txBox="1"/>
          <p:nvPr/>
        </p:nvSpPr>
        <p:spPr>
          <a:xfrm>
            <a:off x="4050791" y="3730752"/>
            <a:ext cx="2377440" cy="411480"/>
          </a:xfrm>
          <a:prstGeom prst="rect">
            <a:avLst/>
          </a:prstGeom>
          <a:noFill/>
        </p:spPr>
        <p:txBody>
          <a:bodyPr wrap="square" lIns="0" rIns="0" tIns="0" bIns="0" anchor="ctr">
            <a:spAutoFit/>
          </a:bodyPr>
          <a:lstStyle/>
          <a:p>
            <a:pPr algn="l"/>
            <a:r>
              <a:rPr sz="1000" b="1">
                <a:solidFill>
                  <a:srgbClr val="1F7A5A"/>
                </a:solidFill>
                <a:latin typeface="Arial"/>
              </a:rPr>
              <a:t>real demand drives one Group-wide production plan</a:t>
            </a:r>
          </a:p>
        </p:txBody>
      </p:sp>
      <p:sp>
        <p:nvSpPr>
          <p:cNvPr id="37" name="Rounded Rectangle 36"/>
          <p:cNvSpPr/>
          <p:nvPr/>
        </p:nvSpPr>
        <p:spPr>
          <a:xfrm>
            <a:off x="457200" y="4224528"/>
            <a:ext cx="11274552" cy="1371600"/>
          </a:xfrm>
          <a:prstGeom prst="roundRect">
            <a:avLst>
              <a:gd name="adj" fmla="val 6000"/>
            </a:avLst>
          </a:prstGeom>
          <a:solidFill>
            <a:srgbClr val="183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407408"/>
            <a:ext cx="2651760" cy="365760"/>
          </a:xfrm>
          <a:prstGeom prst="rect">
            <a:avLst/>
          </a:prstGeom>
          <a:noFill/>
        </p:spPr>
        <p:txBody>
          <a:bodyPr wrap="square" lIns="0" rIns="0" tIns="0" bIns="0" anchor="t">
            <a:spAutoFit/>
          </a:bodyPr>
          <a:lstStyle/>
          <a:p>
            <a:pPr algn="l"/>
            <a:r>
              <a:rPr sz="2600" b="1">
                <a:solidFill>
                  <a:srgbClr val="FFFFFF"/>
                </a:solidFill>
                <a:latin typeface="Arial"/>
              </a:rPr>
              <a:t>GAia</a:t>
            </a:r>
          </a:p>
        </p:txBody>
      </p:sp>
      <p:sp>
        <p:nvSpPr>
          <p:cNvPr id="39" name="TextBox 38"/>
          <p:cNvSpPr txBox="1"/>
          <p:nvPr/>
        </p:nvSpPr>
        <p:spPr>
          <a:xfrm>
            <a:off x="731520" y="4828032"/>
            <a:ext cx="2651760" cy="228600"/>
          </a:xfrm>
          <a:prstGeom prst="rect">
            <a:avLst/>
          </a:prstGeom>
          <a:noFill/>
        </p:spPr>
        <p:txBody>
          <a:bodyPr wrap="square" lIns="0" rIns="0" tIns="0" bIns="0" anchor="t">
            <a:spAutoFit/>
          </a:bodyPr>
          <a:lstStyle/>
          <a:p>
            <a:pPr algn="l"/>
            <a:r>
              <a:rPr sz="950" b="1" spc="120">
                <a:solidFill>
                  <a:srgbClr val="F29B9B"/>
                </a:solidFill>
                <a:latin typeface="Arial"/>
              </a:rPr>
              <a:t>THE ONLY MISSING LINK</a:t>
            </a:r>
          </a:p>
        </p:txBody>
      </p:sp>
      <p:sp>
        <p:nvSpPr>
          <p:cNvPr id="40" name="TextBox 39"/>
          <p:cNvSpPr txBox="1"/>
          <p:nvPr/>
        </p:nvSpPr>
        <p:spPr>
          <a:xfrm>
            <a:off x="731520" y="5093208"/>
            <a:ext cx="2651760" cy="411480"/>
          </a:xfrm>
          <a:prstGeom prst="rect">
            <a:avLst/>
          </a:prstGeom>
          <a:noFill/>
        </p:spPr>
        <p:txBody>
          <a:bodyPr wrap="square" lIns="0" rIns="0" tIns="0" bIns="0" anchor="t">
            <a:spAutoFit/>
          </a:bodyPr>
          <a:lstStyle/>
          <a:p>
            <a:pPr algn="l"/>
            <a:r>
              <a:rPr sz="1050" b="0">
                <a:solidFill>
                  <a:srgbClr val="FFFFFF"/>
                </a:solidFill>
                <a:latin typeface="Arial"/>
              </a:rPr>
              <a:t>Digital platform between farmer and distributor</a:t>
            </a:r>
          </a:p>
        </p:txBody>
      </p:sp>
      <p:sp>
        <p:nvSpPr>
          <p:cNvPr id="41" name="Rounded Rectangle 40"/>
          <p:cNvSpPr/>
          <p:nvPr/>
        </p:nvSpPr>
        <p:spPr>
          <a:xfrm>
            <a:off x="3520440" y="4617720"/>
            <a:ext cx="1444752" cy="58521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75304" y="4617720"/>
            <a:ext cx="1335024" cy="585216"/>
          </a:xfrm>
          <a:prstGeom prst="rect">
            <a:avLst/>
          </a:prstGeom>
          <a:noFill/>
        </p:spPr>
        <p:txBody>
          <a:bodyPr wrap="square" lIns="0" rIns="0" tIns="0" bIns="0" anchor="ctr">
            <a:spAutoFit/>
          </a:bodyPr>
          <a:lstStyle/>
          <a:p>
            <a:pPr algn="ctr"/>
            <a:r>
              <a:rPr sz="1150" b="1">
                <a:solidFill>
                  <a:srgbClr val="183349"/>
                </a:solidFill>
                <a:latin typeface="Arial"/>
              </a:rPr>
              <a:t>Farmer</a:t>
            </a:r>
          </a:p>
        </p:txBody>
      </p:sp>
      <p:sp>
        <p:nvSpPr>
          <p:cNvPr id="43" name="Right Arrow 42"/>
          <p:cNvSpPr/>
          <p:nvPr/>
        </p:nvSpPr>
        <p:spPr>
          <a:xfrm>
            <a:off x="5001768" y="4818888"/>
            <a:ext cx="160020"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198364" y="4617720"/>
            <a:ext cx="1444752" cy="58521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53228" y="4617720"/>
            <a:ext cx="1335024" cy="585216"/>
          </a:xfrm>
          <a:prstGeom prst="rect">
            <a:avLst/>
          </a:prstGeom>
          <a:noFill/>
        </p:spPr>
        <p:txBody>
          <a:bodyPr wrap="square" lIns="0" rIns="0" tIns="0" bIns="0" anchor="ctr">
            <a:spAutoFit/>
          </a:bodyPr>
          <a:lstStyle/>
          <a:p>
            <a:pPr algn="ctr"/>
            <a:r>
              <a:rPr sz="1150" b="1">
                <a:solidFill>
                  <a:srgbClr val="183349"/>
                </a:solidFill>
                <a:latin typeface="Arial"/>
              </a:rPr>
              <a:t>Fertilisation plan</a:t>
            </a:r>
          </a:p>
        </p:txBody>
      </p:sp>
      <p:sp>
        <p:nvSpPr>
          <p:cNvPr id="46" name="Right Arrow 45"/>
          <p:cNvSpPr/>
          <p:nvPr/>
        </p:nvSpPr>
        <p:spPr>
          <a:xfrm>
            <a:off x="6679692" y="4818888"/>
            <a:ext cx="160020"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876288" y="4617720"/>
            <a:ext cx="1444752" cy="58521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31151" y="4617720"/>
            <a:ext cx="1335024" cy="585216"/>
          </a:xfrm>
          <a:prstGeom prst="rect">
            <a:avLst/>
          </a:prstGeom>
          <a:noFill/>
        </p:spPr>
        <p:txBody>
          <a:bodyPr wrap="square" lIns="0" rIns="0" tIns="0" bIns="0" anchor="ctr">
            <a:spAutoFit/>
          </a:bodyPr>
          <a:lstStyle/>
          <a:p>
            <a:pPr algn="ctr"/>
            <a:r>
              <a:rPr sz="1150" b="1">
                <a:solidFill>
                  <a:srgbClr val="183349"/>
                </a:solidFill>
                <a:latin typeface="Arial"/>
              </a:rPr>
              <a:t>Basket</a:t>
            </a:r>
          </a:p>
        </p:txBody>
      </p:sp>
      <p:sp>
        <p:nvSpPr>
          <p:cNvPr id="49" name="Right Arrow 48"/>
          <p:cNvSpPr/>
          <p:nvPr/>
        </p:nvSpPr>
        <p:spPr>
          <a:xfrm>
            <a:off x="8357615" y="4818888"/>
            <a:ext cx="160020"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8554212" y="4617720"/>
            <a:ext cx="1444752" cy="58521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609076" y="4617720"/>
            <a:ext cx="1335024" cy="585216"/>
          </a:xfrm>
          <a:prstGeom prst="rect">
            <a:avLst/>
          </a:prstGeom>
          <a:noFill/>
        </p:spPr>
        <p:txBody>
          <a:bodyPr wrap="square" lIns="0" rIns="0" tIns="0" bIns="0" anchor="ctr">
            <a:spAutoFit/>
          </a:bodyPr>
          <a:lstStyle/>
          <a:p>
            <a:pPr algn="ctr"/>
            <a:r>
              <a:rPr sz="1150" b="1">
                <a:solidFill>
                  <a:srgbClr val="183349"/>
                </a:solidFill>
                <a:latin typeface="Arial"/>
              </a:rPr>
              <a:t>Order at distributor</a:t>
            </a:r>
          </a:p>
        </p:txBody>
      </p:sp>
      <p:sp>
        <p:nvSpPr>
          <p:cNvPr id="52" name="Right Arrow 51"/>
          <p:cNvSpPr/>
          <p:nvPr/>
        </p:nvSpPr>
        <p:spPr>
          <a:xfrm>
            <a:off x="10035540" y="4818888"/>
            <a:ext cx="160020"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0232136" y="4617720"/>
            <a:ext cx="1444752" cy="585216"/>
          </a:xfrm>
          <a:prstGeom prst="roundRect">
            <a:avLst>
              <a:gd name="adj" fmla="val 12000"/>
            </a:avLst>
          </a:prstGeom>
          <a:solidFill>
            <a:srgbClr val="1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87000" y="4617720"/>
            <a:ext cx="1335024" cy="585216"/>
          </a:xfrm>
          <a:prstGeom prst="rect">
            <a:avLst/>
          </a:prstGeom>
          <a:noFill/>
        </p:spPr>
        <p:txBody>
          <a:bodyPr wrap="square" lIns="0" rIns="0" tIns="0" bIns="0" anchor="ctr">
            <a:spAutoFit/>
          </a:bodyPr>
          <a:lstStyle/>
          <a:p>
            <a:pPr algn="ctr"/>
            <a:r>
              <a:rPr sz="1150" b="1">
                <a:solidFill>
                  <a:srgbClr val="FFFFFF"/>
                </a:solidFill>
                <a:latin typeface="Arial"/>
              </a:rPr>
              <a:t>Data to Group plan</a:t>
            </a:r>
          </a:p>
        </p:txBody>
      </p:sp>
      <p:sp>
        <p:nvSpPr>
          <p:cNvPr id="55" name="Rounded Rectangle 54"/>
          <p:cNvSpPr/>
          <p:nvPr/>
        </p:nvSpPr>
        <p:spPr>
          <a:xfrm>
            <a:off x="457200" y="5788152"/>
            <a:ext cx="11274552" cy="658368"/>
          </a:xfrm>
          <a:prstGeom prst="roundRect">
            <a:avLst>
              <a:gd name="adj" fmla="val 12000"/>
            </a:avLst>
          </a:prstGeom>
          <a:solidFill>
            <a:srgbClr val="E6F2EC"/>
          </a:solidFill>
          <a:ln w="15875">
            <a:solidFill>
              <a:srgbClr val="1F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1520" y="5788152"/>
            <a:ext cx="10725912" cy="658368"/>
          </a:xfrm>
          <a:prstGeom prst="rect">
            <a:avLst/>
          </a:prstGeom>
          <a:noFill/>
        </p:spPr>
        <p:txBody>
          <a:bodyPr wrap="square" lIns="0" rIns="0" tIns="0" bIns="0" anchor="ctr">
            <a:spAutoFit/>
          </a:bodyPr>
          <a:lstStyle/>
          <a:p>
            <a:pPr algn="l"/>
            <a:r>
              <a:rPr sz="1250" b="1">
                <a:solidFill>
                  <a:srgbClr val="1F7A5A"/>
                </a:solidFill>
                <a:latin typeface="Arial"/>
              </a:rPr>
              <a:t>The prize: </a:t>
            </a:r>
            <a:r>
              <a:rPr sz="1250" b="0">
                <a:solidFill>
                  <a:srgbClr val="1E1E1E"/>
                </a:solidFill>
                <a:latin typeface="Arial"/>
              </a:rPr>
              <a:t>AN/CAN 45% → 60% and NPK 42% → 60% ≈ </a:t>
            </a:r>
            <a:r>
              <a:rPr sz="1250" b="1">
                <a:solidFill>
                  <a:srgbClr val="1E1E1E"/>
                </a:solidFill>
                <a:latin typeface="Arial"/>
              </a:rPr>
              <a:t>+PLN 0.78 bn revenue per year</a:t>
            </a:r>
            <a:r>
              <a:rPr sz="1250" b="0">
                <a:solidFill>
                  <a:srgbClr val="1E1E1E"/>
                </a:solidFill>
                <a:latin typeface="Arial"/>
              </a:rPr>
              <a:t>. The assets are paid for. GAia is the necessary last step. Build it with us.</a:t>
            </a:r>
          </a:p>
        </p:txBody>
      </p:sp>
    </p:spTree>
  </p:cSld>
  <p:clrMapOvr>
    <a:masterClrMapping/>
  </p:clrMapOvr>
</p:sld>
</file>

<file path=ppt/theme/theme1.xml><?xml version="1.0" encoding="utf-8"?>
<a:theme xmlns:a="http://schemas.openxmlformats.org/drawingml/2006/main" name="Grupa Azoty Top3">
  <a:themeElements>
    <a:clrScheme name="Grupa Azoty Top3">
      <a:dk1>
        <a:srgbClr val="1E1E1E"/>
      </a:dk1>
      <a:lt1>
        <a:srgbClr val="FFFFFF"/>
      </a:lt1>
      <a:dk2>
        <a:srgbClr val="183349"/>
      </a:dk2>
      <a:lt2>
        <a:srgbClr val="F3F4F5"/>
      </a:lt2>
      <a:accent1>
        <a:srgbClr val="1F7A5A"/>
      </a:accent1>
      <a:accent2>
        <a:srgbClr val="1F5F99"/>
      </a:accent2>
      <a:accent3>
        <a:srgbClr val="B23A3A"/>
      </a:accent3>
      <a:accent4>
        <a:srgbClr val="2B2B2B"/>
      </a:accent4>
      <a:accent5>
        <a:srgbClr val="E6F2EC"/>
      </a:accent5>
      <a:accent6>
        <a:srgbClr val="5B6B76"/>
      </a:accent6>
      <a:hlink>
        <a:srgbClr val="1F5F99"/>
      </a:hlink>
      <a:folHlink>
        <a:srgbClr val="5B6B76"/>
      </a:folHlink>
    </a:clrScheme>
    <a:fontScheme name="Grupa Azoty Top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 3 dla Prezesa</dc:title>
  <dc:subject>PptxGenJS Presentation</dc:subject>
  <dc:creator>PptxGenJS</dc:creator>
  <cp:lastModifiedBy>PptxGenJS</cp:lastModifiedBy>
  <cp:revision>1</cp:revision>
  <dcterms:created xsi:type="dcterms:W3CDTF">2026-10-06T14:59:38Z</dcterms:created>
  <dcterms:modified xsi:type="dcterms:W3CDTF">2026-10-06T14:59:38Z</dcterms:modified>
</cp:coreProperties>
</file>