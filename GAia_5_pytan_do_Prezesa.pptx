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cyzje" id="{30e57b25-5264-9b65-7480-1a4dbeb20083}">
          <p14:sldIdLst>
            <p14:sldId id="256"/>
          </p14:sldIdLst>
        </p14:section>
        <p14:section name="Status" id="{2af4309a-26d5-748c-a7b1-dd232f2fccbc}">
          <p14:sldIdLst>
            <p14:sldId id="257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Minuta. Potrzebujemy pięciu odpowiedzi. Jeden, pilne: jutro spotkanie w ARiMR. Na co możemy się zgodzić przy budowie ich Portalu Rolnika? Od tego zależy dostęp do bazy rolników. Dwa: Empik. Czy poza spotkaniami coś ustalono i jak duże jest ich zainteresowanie? Trzy: PZU robi moduł ubezpieczeń w GAia. Czy rozmawiamy z nimi także o finansowaniu i inwestycjach dla rolników? Tak czy nie. Cztery: Farmster. Czy rozważamy wykup AgriSolutions? Tak czy nie. Pięć: GAia jest w strategii nawozowej. Czy włączamy ją także do innych strategii Grupy? Tak czy nie.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Slajd zapasowy: stan projektu na 5.10. Pokazujemy tylko, jeśli Prezes zapyta o kontekst.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ytul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1200" dirty="0">
                <a:solidFill>
                  <a:schemeClr val="tx2"/>
                </a:solidFill>
              </a:defRPr>
            </a:lvl1pPr>
          </a:lstStyle>
          <a:p>
            <a:pPr algn="l" indent="0" marL="0">
              <a:buNone/>
            </a:pPr>
            <a:endParaRPr lang="en-US" sz="1200" dirty="0"/>
          </a:p>
        </p:txBody>
      </p:sp>
      <p:sp>
        <p:nvSpPr>
          <p:cNvPr id="4" name="Text 0"/>
          <p:cNvSpPr/>
          <p:nvPr/>
        </p:nvSpPr>
        <p:spPr>
          <a:xfrm>
            <a:off x="457200" y="4846320"/>
            <a:ext cx="36576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GAia · spotkanie 12.10.2026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GAia: 5 pytań, na które potrzebujemy odpowiedzi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Prosimy o krótką odpowiedź przy każdym punkcie. Pierwszy jest pilny: spotkanie w ARiMR już jutro.</a:t>
            </a:r>
            <a:endParaRPr lang="en-US" sz="1200" dirty="0"/>
          </a:p>
        </p:txBody>
      </p:sp>
      <p:sp>
        <p:nvSpPr>
          <p:cNvPr id="4" name="Pytanie 1 tło"/>
          <p:cNvSpPr/>
          <p:nvPr/>
        </p:nvSpPr>
        <p:spPr>
          <a:xfrm>
            <a:off x="457200" y="1207008"/>
            <a:ext cx="8229600" cy="676656"/>
          </a:xfrm>
          <a:prstGeom prst="roundRect">
            <a:avLst>
              <a:gd name="adj" fmla="val 10811"/>
            </a:avLst>
          </a:prstGeom>
          <a:solidFill>
            <a:srgbClr val="FBEDEB"/>
          </a:solidFill>
          <a:ln w="12700">
            <a:solidFill>
              <a:schemeClr val="accent3"/>
            </a:solidFill>
            <a:prstDash val="solid"/>
          </a:ln>
        </p:spPr>
      </p:sp>
      <p:sp>
        <p:nvSpPr>
          <p:cNvPr id="5" name="Numer 1"/>
          <p:cNvSpPr/>
          <p:nvPr/>
        </p:nvSpPr>
        <p:spPr>
          <a:xfrm>
            <a:off x="621792" y="1353312"/>
            <a:ext cx="384048" cy="384048"/>
          </a:xfrm>
          <a:prstGeom prst="ellipse">
            <a:avLst/>
          </a:prstGeom>
          <a:solidFill>
            <a:schemeClr val="accent3"/>
          </a:solidFill>
          <a:ln/>
        </p:spPr>
      </p:sp>
      <p:sp>
        <p:nvSpPr>
          <p:cNvPr id="6" name="Text 4"/>
          <p:cNvSpPr txBox="1"/>
          <p:nvPr/>
        </p:nvSpPr>
        <p:spPr>
          <a:xfrm>
            <a:off x="621792" y="135331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1298448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3"/>
                </a:solidFill>
              </a:rPr>
              <a:t>ARIMR</a:t>
            </a:r>
            <a:endParaRPr lang="en-US" sz="1000" dirty="0"/>
          </a:p>
        </p:txBody>
      </p:sp>
      <p:sp>
        <p:nvSpPr>
          <p:cNvPr id="8" name="Pilne"/>
          <p:cNvSpPr/>
          <p:nvPr/>
        </p:nvSpPr>
        <p:spPr>
          <a:xfrm>
            <a:off x="1170432" y="1554480"/>
            <a:ext cx="868680" cy="219456"/>
          </a:xfrm>
          <a:prstGeom prst="roundRect">
            <a:avLst>
              <a:gd name="adj" fmla="val 20833"/>
            </a:avLst>
          </a:prstGeom>
          <a:solidFill>
            <a:schemeClr val="accent3"/>
          </a:solidFill>
          <a:ln/>
        </p:spPr>
      </p:sp>
      <p:sp>
        <p:nvSpPr>
          <p:cNvPr id="9" name="Text 7"/>
          <p:cNvSpPr txBox="1"/>
          <p:nvPr/>
        </p:nvSpPr>
        <p:spPr>
          <a:xfrm>
            <a:off x="1170432" y="1554480"/>
            <a:ext cx="8686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b="1" dirty="0">
                <a:solidFill>
                  <a:schemeClr val="bg1"/>
                </a:solidFill>
              </a:rPr>
              <a:t>PILNE · 13.10</a:t>
            </a:r>
            <a:endParaRPr lang="en-US" sz="800" dirty="0"/>
          </a:p>
        </p:txBody>
      </p:sp>
      <p:sp>
        <p:nvSpPr>
          <p:cNvPr id="10" name="Text 8"/>
          <p:cNvSpPr txBox="1"/>
          <p:nvPr/>
        </p:nvSpPr>
        <p:spPr>
          <a:xfrm>
            <a:off x="2240280" y="1261872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Na co możemy się zgodzić przy budowie Portalu Rolnika ARiMR?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Jutro spotkanie w ARiMR: porozumienie i dostęp do bazy danych rolników.</a:t>
            </a:r>
            <a:endParaRPr lang="en-US" sz="1300" dirty="0"/>
          </a:p>
        </p:txBody>
      </p:sp>
      <p:sp>
        <p:nvSpPr>
          <p:cNvPr id="11" name="Odpowiedź 1"/>
          <p:cNvSpPr/>
          <p:nvPr/>
        </p:nvSpPr>
        <p:spPr>
          <a:xfrm>
            <a:off x="7178040" y="1371600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2" name="Text 10"/>
          <p:cNvSpPr txBox="1"/>
          <p:nvPr/>
        </p:nvSpPr>
        <p:spPr>
          <a:xfrm>
            <a:off x="7178040" y="1371600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odpowiedź</a:t>
            </a:r>
            <a:endParaRPr lang="en-US" sz="1000" dirty="0"/>
          </a:p>
        </p:txBody>
      </p:sp>
      <p:sp>
        <p:nvSpPr>
          <p:cNvPr id="13" name="Pytanie 2 tło"/>
          <p:cNvSpPr/>
          <p:nvPr/>
        </p:nvSpPr>
        <p:spPr>
          <a:xfrm>
            <a:off x="457200" y="1920240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Numer 2"/>
          <p:cNvSpPr/>
          <p:nvPr/>
        </p:nvSpPr>
        <p:spPr>
          <a:xfrm>
            <a:off x="621792" y="2066544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621792" y="206654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1170432" y="2011680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EMPIK</a:t>
            </a:r>
            <a:endParaRPr lang="en-US" sz="1000" dirty="0"/>
          </a:p>
        </p:txBody>
      </p:sp>
      <p:sp>
        <p:nvSpPr>
          <p:cNvPr id="17" name="Text 15"/>
          <p:cNvSpPr txBox="1"/>
          <p:nvPr/>
        </p:nvSpPr>
        <p:spPr>
          <a:xfrm>
            <a:off x="2240280" y="1975104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Czy poza spotkaniami coś ustalono? Jak duże jest ich zainteresowanie?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Wstępne zainteresowanie, Empik buduje zespół do projektu.</a:t>
            </a:r>
            <a:endParaRPr lang="en-US" sz="1300" dirty="0"/>
          </a:p>
        </p:txBody>
      </p:sp>
      <p:sp>
        <p:nvSpPr>
          <p:cNvPr id="18" name="Odpowiedź 2"/>
          <p:cNvSpPr/>
          <p:nvPr/>
        </p:nvSpPr>
        <p:spPr>
          <a:xfrm>
            <a:off x="7178040" y="2084832"/>
            <a:ext cx="1335024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2700">
            <a:solidFill>
              <a:schemeClr val="tx2"/>
            </a:solidFill>
            <a:prstDash val="dash"/>
          </a:ln>
        </p:spPr>
      </p:sp>
      <p:sp>
        <p:nvSpPr>
          <p:cNvPr id="19" name="Text 17"/>
          <p:cNvSpPr txBox="1"/>
          <p:nvPr/>
        </p:nvSpPr>
        <p:spPr>
          <a:xfrm>
            <a:off x="7178040" y="2084832"/>
            <a:ext cx="133502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i="1" dirty="0">
                <a:solidFill>
                  <a:schemeClr val="tx2"/>
                </a:solidFill>
              </a:rPr>
              <a:t>odpowiedź</a:t>
            </a:r>
            <a:endParaRPr lang="en-US" sz="1000" dirty="0"/>
          </a:p>
        </p:txBody>
      </p:sp>
      <p:sp>
        <p:nvSpPr>
          <p:cNvPr id="20" name="Pytanie 3 tło"/>
          <p:cNvSpPr/>
          <p:nvPr/>
        </p:nvSpPr>
        <p:spPr>
          <a:xfrm>
            <a:off x="457200" y="2633472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21" name="Numer 3"/>
          <p:cNvSpPr/>
          <p:nvPr/>
        </p:nvSpPr>
        <p:spPr>
          <a:xfrm>
            <a:off x="621792" y="2779776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2" name="Text 20"/>
          <p:cNvSpPr txBox="1"/>
          <p:nvPr/>
        </p:nvSpPr>
        <p:spPr>
          <a:xfrm>
            <a:off x="621792" y="277977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23" name="Text 21"/>
          <p:cNvSpPr txBox="1"/>
          <p:nvPr/>
        </p:nvSpPr>
        <p:spPr>
          <a:xfrm>
            <a:off x="1170432" y="2724912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PZU</a:t>
            </a:r>
            <a:endParaRPr lang="en-US" sz="1000" dirty="0"/>
          </a:p>
        </p:txBody>
      </p:sp>
      <p:sp>
        <p:nvSpPr>
          <p:cNvPr id="24" name="Text 22"/>
          <p:cNvSpPr txBox="1"/>
          <p:nvPr/>
        </p:nvSpPr>
        <p:spPr>
          <a:xfrm>
            <a:off x="2240280" y="2688336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Czy rozszerzamy rozmowy z PZU o finansowanie i inwestycje dla rolników?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PZU przygotowuje ofertę ubezpieczeń jako moduł wewnątrz GAia.</a:t>
            </a:r>
            <a:endParaRPr lang="en-US" sz="1300" dirty="0"/>
          </a:p>
        </p:txBody>
      </p:sp>
      <p:sp>
        <p:nvSpPr>
          <p:cNvPr id="25" name="TAK 3"/>
          <p:cNvSpPr/>
          <p:nvPr/>
        </p:nvSpPr>
        <p:spPr>
          <a:xfrm>
            <a:off x="7178040" y="2798064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7178040" y="279806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TAK</a:t>
            </a:r>
            <a:endParaRPr lang="en-US" sz="1200" dirty="0"/>
          </a:p>
        </p:txBody>
      </p:sp>
      <p:sp>
        <p:nvSpPr>
          <p:cNvPr id="27" name="NIE 3"/>
          <p:cNvSpPr/>
          <p:nvPr/>
        </p:nvSpPr>
        <p:spPr>
          <a:xfrm>
            <a:off x="7891272" y="2798064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28" name="Text 26"/>
          <p:cNvSpPr txBox="1"/>
          <p:nvPr/>
        </p:nvSpPr>
        <p:spPr>
          <a:xfrm>
            <a:off x="7891272" y="2798064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NIE</a:t>
            </a:r>
            <a:endParaRPr lang="en-US" sz="1200" dirty="0"/>
          </a:p>
        </p:txBody>
      </p:sp>
      <p:sp>
        <p:nvSpPr>
          <p:cNvPr id="29" name="Pytanie 4 tło"/>
          <p:cNvSpPr/>
          <p:nvPr/>
        </p:nvSpPr>
        <p:spPr>
          <a:xfrm>
            <a:off x="457200" y="3346704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0" name="Numer 4"/>
          <p:cNvSpPr/>
          <p:nvPr/>
        </p:nvSpPr>
        <p:spPr>
          <a:xfrm>
            <a:off x="621792" y="3493008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31" name="Text 29"/>
          <p:cNvSpPr txBox="1"/>
          <p:nvPr/>
        </p:nvSpPr>
        <p:spPr>
          <a:xfrm>
            <a:off x="621792" y="34930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4</a:t>
            </a:r>
            <a:endParaRPr lang="en-US" sz="1600" dirty="0"/>
          </a:p>
        </p:txBody>
      </p:sp>
      <p:sp>
        <p:nvSpPr>
          <p:cNvPr id="32" name="Text 30"/>
          <p:cNvSpPr txBox="1"/>
          <p:nvPr/>
        </p:nvSpPr>
        <p:spPr>
          <a:xfrm>
            <a:off x="1170432" y="3438144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FARMSTER</a:t>
            </a:r>
            <a:endParaRPr lang="en-US" sz="1000" dirty="0"/>
          </a:p>
        </p:txBody>
      </p:sp>
      <p:sp>
        <p:nvSpPr>
          <p:cNvPr id="33" name="Text 31"/>
          <p:cNvSpPr txBox="1"/>
          <p:nvPr/>
        </p:nvSpPr>
        <p:spPr>
          <a:xfrm>
            <a:off x="2240280" y="3401568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Czy rozważamy wykup AgriSolutions, dostawcy Farmstera?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Analizujemy umowę z prawnikami, potem audyt kodu z Azure z IT.</a:t>
            </a:r>
            <a:endParaRPr lang="en-US" sz="1300" dirty="0"/>
          </a:p>
        </p:txBody>
      </p:sp>
      <p:sp>
        <p:nvSpPr>
          <p:cNvPr id="34" name="TAK 4"/>
          <p:cNvSpPr/>
          <p:nvPr/>
        </p:nvSpPr>
        <p:spPr>
          <a:xfrm>
            <a:off x="7178040" y="3511296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35" name="Text 33"/>
          <p:cNvSpPr txBox="1"/>
          <p:nvPr/>
        </p:nvSpPr>
        <p:spPr>
          <a:xfrm>
            <a:off x="7178040" y="351129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TAK</a:t>
            </a:r>
            <a:endParaRPr lang="en-US" sz="1200" dirty="0"/>
          </a:p>
        </p:txBody>
      </p:sp>
      <p:sp>
        <p:nvSpPr>
          <p:cNvPr id="36" name="NIE 4"/>
          <p:cNvSpPr/>
          <p:nvPr/>
        </p:nvSpPr>
        <p:spPr>
          <a:xfrm>
            <a:off x="7891272" y="3511296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37" name="Text 35"/>
          <p:cNvSpPr txBox="1"/>
          <p:nvPr/>
        </p:nvSpPr>
        <p:spPr>
          <a:xfrm>
            <a:off x="7891272" y="3511296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NIE</a:t>
            </a:r>
            <a:endParaRPr lang="en-US" sz="1200" dirty="0"/>
          </a:p>
        </p:txBody>
      </p:sp>
      <p:sp>
        <p:nvSpPr>
          <p:cNvPr id="38" name="Pytanie 5 tło"/>
          <p:cNvSpPr/>
          <p:nvPr/>
        </p:nvSpPr>
        <p:spPr>
          <a:xfrm>
            <a:off x="457200" y="4059936"/>
            <a:ext cx="8229600" cy="676656"/>
          </a:xfrm>
          <a:prstGeom prst="roundRect">
            <a:avLst>
              <a:gd name="adj" fmla="val 108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39" name="Numer 5"/>
          <p:cNvSpPr/>
          <p:nvPr/>
        </p:nvSpPr>
        <p:spPr>
          <a:xfrm>
            <a:off x="621792" y="4206240"/>
            <a:ext cx="384048" cy="384048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621792" y="42062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5</a:t>
            </a:r>
            <a:endParaRPr lang="en-US" sz="1600" dirty="0"/>
          </a:p>
        </p:txBody>
      </p:sp>
      <p:sp>
        <p:nvSpPr>
          <p:cNvPr id="41" name="Text 39"/>
          <p:cNvSpPr txBox="1"/>
          <p:nvPr/>
        </p:nvSpPr>
        <p:spPr>
          <a:xfrm>
            <a:off x="1170432" y="4151376"/>
            <a:ext cx="1143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STRATEGIA</a:t>
            </a:r>
            <a:endParaRPr lang="en-US" sz="1000" dirty="0"/>
          </a:p>
        </p:txBody>
      </p:sp>
      <p:sp>
        <p:nvSpPr>
          <p:cNvPr id="42" name="Text 40"/>
          <p:cNvSpPr txBox="1"/>
          <p:nvPr/>
        </p:nvSpPr>
        <p:spPr>
          <a:xfrm>
            <a:off x="2240280" y="4114800"/>
            <a:ext cx="4800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Czy włączamy GAię także do innych strategii Grupy?</a:t>
            </a:r>
            <a:endParaRPr lang="en-US" sz="13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000" dirty="0">
                <a:solidFill>
                  <a:schemeClr val="tx2"/>
                </a:solidFill>
              </a:rPr>
              <a:t>GAia jest już w strategii nawozowej (z Wiceprezesem P. Szajczykiem).</a:t>
            </a:r>
            <a:endParaRPr lang="en-US" sz="1300" dirty="0"/>
          </a:p>
        </p:txBody>
      </p:sp>
      <p:sp>
        <p:nvSpPr>
          <p:cNvPr id="43" name="TAK 5"/>
          <p:cNvSpPr/>
          <p:nvPr/>
        </p:nvSpPr>
        <p:spPr>
          <a:xfrm>
            <a:off x="7178040" y="4224528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2"/>
            </a:solidFill>
            <a:prstDash val="solid"/>
          </a:ln>
        </p:spPr>
      </p:sp>
      <p:sp>
        <p:nvSpPr>
          <p:cNvPr id="44" name="Text 42"/>
          <p:cNvSpPr txBox="1"/>
          <p:nvPr/>
        </p:nvSpPr>
        <p:spPr>
          <a:xfrm>
            <a:off x="7178040" y="42245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2"/>
                </a:solidFill>
              </a:rPr>
              <a:t>TAK</a:t>
            </a:r>
            <a:endParaRPr lang="en-US" sz="1200" dirty="0"/>
          </a:p>
        </p:txBody>
      </p:sp>
      <p:sp>
        <p:nvSpPr>
          <p:cNvPr id="45" name="NIE 5"/>
          <p:cNvSpPr/>
          <p:nvPr/>
        </p:nvSpPr>
        <p:spPr>
          <a:xfrm>
            <a:off x="7891272" y="4224528"/>
            <a:ext cx="621792" cy="347472"/>
          </a:xfrm>
          <a:prstGeom prst="roundRect">
            <a:avLst>
              <a:gd name="adj" fmla="val 15789"/>
            </a:avLst>
          </a:prstGeom>
          <a:solidFill>
            <a:schemeClr val="bg1"/>
          </a:solidFill>
          <a:ln w="19050">
            <a:solidFill>
              <a:schemeClr val="accent3"/>
            </a:solidFill>
            <a:prstDash val="solid"/>
          </a:ln>
        </p:spPr>
      </p:sp>
      <p:sp>
        <p:nvSpPr>
          <p:cNvPr id="46" name="Text 44"/>
          <p:cNvSpPr txBox="1"/>
          <p:nvPr/>
        </p:nvSpPr>
        <p:spPr>
          <a:xfrm>
            <a:off x="7891272" y="4224528"/>
            <a:ext cx="62179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accent3"/>
                </a:solidFill>
              </a:rPr>
              <a:t>NIE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Gdzie jesteśmy</a:t>
            </a:r>
            <a:endParaRPr lang="en-US" sz="26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457200" y="7772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200" dirty="0">
                <a:solidFill>
                  <a:schemeClr val="tx2"/>
                </a:solidFill>
              </a:rPr>
              <a:t>Status projektu GAia na 5.10.2026</a:t>
            </a:r>
            <a:endParaRPr lang="en-US" sz="12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234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INSTYTUCJE</a:t>
            </a:r>
            <a:endParaRPr lang="en-US" sz="1000" dirty="0"/>
          </a:p>
        </p:txBody>
      </p:sp>
      <p:sp>
        <p:nvSpPr>
          <p:cNvPr id="5" name="Min. Cyfryzacji karta"/>
          <p:cNvSpPr/>
          <p:nvPr/>
        </p:nvSpPr>
        <p:spPr>
          <a:xfrm>
            <a:off x="45720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6" name="Min. Cyfryzacji status"/>
          <p:cNvSpPr/>
          <p:nvPr/>
        </p:nvSpPr>
        <p:spPr>
          <a:xfrm>
            <a:off x="566928" y="1673352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7" name="Text 5"/>
          <p:cNvSpPr txBox="1"/>
          <p:nvPr/>
        </p:nvSpPr>
        <p:spPr>
          <a:xfrm>
            <a:off x="768096" y="1618488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Min. Cyfryzacji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Porozumienie podpisane. Czekamy na zespół.</a:t>
            </a:r>
            <a:endParaRPr lang="en-US" sz="1100" dirty="0"/>
          </a:p>
        </p:txBody>
      </p:sp>
      <p:sp>
        <p:nvSpPr>
          <p:cNvPr id="8" name="Min. Rolnictwa karta"/>
          <p:cNvSpPr/>
          <p:nvPr/>
        </p:nvSpPr>
        <p:spPr>
          <a:xfrm>
            <a:off x="457200" y="2304288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9" name="Min. Rolnictwa status"/>
          <p:cNvSpPr/>
          <p:nvPr/>
        </p:nvSpPr>
        <p:spPr>
          <a:xfrm>
            <a:off x="566928" y="2423160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768096" y="2368296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Min. Rolnictwa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Porozumienie podpisane. Czekamy na harmonogram.</a:t>
            </a:r>
            <a:endParaRPr lang="en-US" sz="1100" dirty="0"/>
          </a:p>
        </p:txBody>
      </p:sp>
      <p:sp>
        <p:nvSpPr>
          <p:cNvPr id="11" name="ARiMR karta"/>
          <p:cNvSpPr/>
          <p:nvPr/>
        </p:nvSpPr>
        <p:spPr>
          <a:xfrm>
            <a:off x="457200" y="3054096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2" name="ARiMR status"/>
          <p:cNvSpPr/>
          <p:nvPr/>
        </p:nvSpPr>
        <p:spPr>
          <a:xfrm>
            <a:off x="566928" y="3172968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13" name="Text 11"/>
          <p:cNvSpPr txBox="1"/>
          <p:nvPr/>
        </p:nvSpPr>
        <p:spPr>
          <a:xfrm>
            <a:off x="768096" y="3118104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ARiMR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13.10: spotkanie o dostępie do bazy rolników.</a:t>
            </a:r>
            <a:endParaRPr lang="en-US" sz="1100" dirty="0"/>
          </a:p>
        </p:txBody>
      </p:sp>
      <p:sp>
        <p:nvSpPr>
          <p:cNvPr id="14" name="Text 12"/>
          <p:cNvSpPr txBox="1"/>
          <p:nvPr/>
        </p:nvSpPr>
        <p:spPr>
          <a:xfrm>
            <a:off x="2560320" y="1234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PARTNERZY KOMERCYJNI</a:t>
            </a:r>
            <a:endParaRPr lang="en-US" sz="1000" dirty="0"/>
          </a:p>
        </p:txBody>
      </p:sp>
      <p:sp>
        <p:nvSpPr>
          <p:cNvPr id="15" name="Empik karta"/>
          <p:cNvSpPr/>
          <p:nvPr/>
        </p:nvSpPr>
        <p:spPr>
          <a:xfrm>
            <a:off x="256032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6" name="Empik status"/>
          <p:cNvSpPr/>
          <p:nvPr/>
        </p:nvSpPr>
        <p:spPr>
          <a:xfrm>
            <a:off x="2670048" y="1673352"/>
            <a:ext cx="128016" cy="12801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17" name="Text 15"/>
          <p:cNvSpPr txBox="1"/>
          <p:nvPr/>
        </p:nvSpPr>
        <p:spPr>
          <a:xfrm>
            <a:off x="2871216" y="1618488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Empik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Wstępne zainteresowanie, buduje zespół.</a:t>
            </a:r>
            <a:endParaRPr lang="en-US" sz="1100" dirty="0"/>
          </a:p>
        </p:txBody>
      </p:sp>
      <p:sp>
        <p:nvSpPr>
          <p:cNvPr id="18" name="PZU karta"/>
          <p:cNvSpPr/>
          <p:nvPr/>
        </p:nvSpPr>
        <p:spPr>
          <a:xfrm>
            <a:off x="2560320" y="2304288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19" name="PZU status"/>
          <p:cNvSpPr/>
          <p:nvPr/>
        </p:nvSpPr>
        <p:spPr>
          <a:xfrm>
            <a:off x="2670048" y="2423160"/>
            <a:ext cx="128016" cy="12801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2871216" y="2368296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PZU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Oferta ubezpieczeń jako moduł w GAia.</a:t>
            </a:r>
            <a:endParaRPr lang="en-US" sz="1100" dirty="0"/>
          </a:p>
        </p:txBody>
      </p:sp>
      <p:sp>
        <p:nvSpPr>
          <p:cNvPr id="21" name="OLX karta"/>
          <p:cNvSpPr/>
          <p:nvPr/>
        </p:nvSpPr>
        <p:spPr>
          <a:xfrm>
            <a:off x="2560320" y="3054096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2" name="OLX status"/>
          <p:cNvSpPr/>
          <p:nvPr/>
        </p:nvSpPr>
        <p:spPr>
          <a:xfrm>
            <a:off x="2670048" y="3172968"/>
            <a:ext cx="128016" cy="128016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23" name="Text 21"/>
          <p:cNvSpPr txBox="1"/>
          <p:nvPr/>
        </p:nvSpPr>
        <p:spPr>
          <a:xfrm>
            <a:off x="2871216" y="3118104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OLX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Spotkanie 12.10.</a:t>
            </a:r>
            <a:endParaRPr lang="en-US" sz="1100" dirty="0"/>
          </a:p>
        </p:txBody>
      </p:sp>
      <p:sp>
        <p:nvSpPr>
          <p:cNvPr id="24" name="Euro RTV AGD karta"/>
          <p:cNvSpPr/>
          <p:nvPr/>
        </p:nvSpPr>
        <p:spPr>
          <a:xfrm>
            <a:off x="2560320" y="3803904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5" name="Euro RTV AGD status"/>
          <p:cNvSpPr/>
          <p:nvPr/>
        </p:nvSpPr>
        <p:spPr>
          <a:xfrm>
            <a:off x="2670048" y="3922776"/>
            <a:ext cx="128016" cy="128016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26" name="Text 24"/>
          <p:cNvSpPr txBox="1"/>
          <p:nvPr/>
        </p:nvSpPr>
        <p:spPr>
          <a:xfrm>
            <a:off x="2871216" y="3867912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Euro RTV AGD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Nie kontynuuje współpracy.</a:t>
            </a:r>
            <a:endParaRPr lang="en-US" sz="1100" dirty="0"/>
          </a:p>
        </p:txBody>
      </p:sp>
      <p:sp>
        <p:nvSpPr>
          <p:cNvPr id="27" name="Text 25"/>
          <p:cNvSpPr txBox="1"/>
          <p:nvPr/>
        </p:nvSpPr>
        <p:spPr>
          <a:xfrm>
            <a:off x="4663440" y="1234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TECHNOLOGIA</a:t>
            </a:r>
            <a:endParaRPr lang="en-US" sz="1000" dirty="0"/>
          </a:p>
        </p:txBody>
      </p:sp>
      <p:sp>
        <p:nvSpPr>
          <p:cNvPr id="28" name="Farmster karta"/>
          <p:cNvSpPr/>
          <p:nvPr/>
        </p:nvSpPr>
        <p:spPr>
          <a:xfrm>
            <a:off x="466344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29" name="Farmster status"/>
          <p:cNvSpPr/>
          <p:nvPr/>
        </p:nvSpPr>
        <p:spPr>
          <a:xfrm>
            <a:off x="4773168" y="1673352"/>
            <a:ext cx="128016" cy="128016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0" name="Text 28"/>
          <p:cNvSpPr txBox="1"/>
          <p:nvPr/>
        </p:nvSpPr>
        <p:spPr>
          <a:xfrm>
            <a:off x="4974336" y="1618488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Farmster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Analiza umowy z prawnikami, potem audyt kodu z Azure.</a:t>
            </a:r>
            <a:endParaRPr lang="en-US" sz="1100" dirty="0"/>
          </a:p>
        </p:txBody>
      </p:sp>
      <p:sp>
        <p:nvSpPr>
          <p:cNvPr id="31" name="Text 29"/>
          <p:cNvSpPr txBox="1"/>
          <p:nvPr/>
        </p:nvSpPr>
        <p:spPr>
          <a:xfrm>
            <a:off x="6766560" y="1234440"/>
            <a:ext cx="19202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00" kern="0" dirty="0">
                <a:solidFill>
                  <a:schemeClr val="accent1"/>
                </a:solidFill>
              </a:rPr>
              <a:t>STRATEGIA</a:t>
            </a:r>
            <a:endParaRPr lang="en-US" sz="1000" dirty="0"/>
          </a:p>
        </p:txBody>
      </p:sp>
      <p:sp>
        <p:nvSpPr>
          <p:cNvPr id="32" name="Strategia nawozowa karta"/>
          <p:cNvSpPr/>
          <p:nvPr/>
        </p:nvSpPr>
        <p:spPr>
          <a:xfrm>
            <a:off x="6766560" y="1554480"/>
            <a:ext cx="1920240" cy="658368"/>
          </a:xfrm>
          <a:prstGeom prst="roundRect">
            <a:avLst>
              <a:gd name="adj" fmla="val 8333"/>
            </a:avLst>
          </a:prstGeom>
          <a:solidFill>
            <a:schemeClr val="bg2"/>
          </a:solidFill>
          <a:ln/>
        </p:spPr>
      </p:sp>
      <p:sp>
        <p:nvSpPr>
          <p:cNvPr id="33" name="Strategia nawozowa status"/>
          <p:cNvSpPr/>
          <p:nvPr/>
        </p:nvSpPr>
        <p:spPr>
          <a:xfrm>
            <a:off x="6876288" y="1673352"/>
            <a:ext cx="128016" cy="128016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4" name="Text 32"/>
          <p:cNvSpPr txBox="1"/>
          <p:nvPr/>
        </p:nvSpPr>
        <p:spPr>
          <a:xfrm>
            <a:off x="7077456" y="1618488"/>
            <a:ext cx="151790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100" b="1" dirty="0">
                <a:solidFill>
                  <a:schemeClr val="tx1"/>
                </a:solidFill>
              </a:rPr>
              <a:t>Strategia nawozowa</a:t>
            </a:r>
            <a:endParaRPr lang="en-US" sz="1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900" dirty="0">
                <a:solidFill>
                  <a:schemeClr val="tx2"/>
                </a:solidFill>
              </a:rPr>
              <a:t>GAia włączona. Omawiamy z Wiceprezesem.</a:t>
            </a:r>
            <a:endParaRPr lang="en-US" sz="1100" dirty="0"/>
          </a:p>
        </p:txBody>
      </p:sp>
      <p:sp>
        <p:nvSpPr>
          <p:cNvPr id="35" name="Legenda Porozumienie / włączone"/>
          <p:cNvSpPr/>
          <p:nvPr/>
        </p:nvSpPr>
        <p:spPr>
          <a:xfrm>
            <a:off x="457200" y="4553712"/>
            <a:ext cx="118872" cy="118872"/>
          </a:xfrm>
          <a:prstGeom prst="ellipse">
            <a:avLst/>
          </a:prstGeom>
          <a:solidFill>
            <a:schemeClr val="accent2"/>
          </a:solidFill>
          <a:ln/>
        </p:spPr>
      </p:sp>
      <p:sp>
        <p:nvSpPr>
          <p:cNvPr id="36" name="Text 34"/>
          <p:cNvSpPr txBox="1"/>
          <p:nvPr/>
        </p:nvSpPr>
        <p:spPr>
          <a:xfrm>
            <a:off x="640080" y="45079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Porozumienie / włączone</a:t>
            </a:r>
            <a:endParaRPr lang="en-US" sz="900" dirty="0"/>
          </a:p>
        </p:txBody>
      </p:sp>
      <p:sp>
        <p:nvSpPr>
          <p:cNvPr id="37" name="Legenda W toku"/>
          <p:cNvSpPr/>
          <p:nvPr/>
        </p:nvSpPr>
        <p:spPr>
          <a:xfrm>
            <a:off x="2560320" y="4553712"/>
            <a:ext cx="118872" cy="118872"/>
          </a:xfrm>
          <a:prstGeom prst="ellipse">
            <a:avLst/>
          </a:prstGeom>
          <a:solidFill>
            <a:schemeClr val="accent4"/>
          </a:solidFill>
          <a:ln/>
        </p:spPr>
      </p:sp>
      <p:sp>
        <p:nvSpPr>
          <p:cNvPr id="38" name="Text 36"/>
          <p:cNvSpPr txBox="1"/>
          <p:nvPr/>
        </p:nvSpPr>
        <p:spPr>
          <a:xfrm>
            <a:off x="2743200" y="45079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W toku</a:t>
            </a:r>
            <a:endParaRPr lang="en-US" sz="900" dirty="0"/>
          </a:p>
        </p:txBody>
      </p:sp>
      <p:sp>
        <p:nvSpPr>
          <p:cNvPr id="39" name="Legenda Spotkanie zaplanowane"/>
          <p:cNvSpPr/>
          <p:nvPr/>
        </p:nvSpPr>
        <p:spPr>
          <a:xfrm>
            <a:off x="4663440" y="4553712"/>
            <a:ext cx="118872" cy="118872"/>
          </a:xfrm>
          <a:prstGeom prst="ellipse">
            <a:avLst/>
          </a:prstGeom>
          <a:solidFill>
            <a:schemeClr val="accent1"/>
          </a:solidFill>
          <a:ln/>
        </p:spPr>
      </p:sp>
      <p:sp>
        <p:nvSpPr>
          <p:cNvPr id="40" name="Text 38"/>
          <p:cNvSpPr txBox="1"/>
          <p:nvPr/>
        </p:nvSpPr>
        <p:spPr>
          <a:xfrm>
            <a:off x="4846320" y="45079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Spotkanie zaplanowane</a:t>
            </a:r>
            <a:endParaRPr lang="en-US" sz="900" dirty="0"/>
          </a:p>
        </p:txBody>
      </p:sp>
      <p:sp>
        <p:nvSpPr>
          <p:cNvPr id="41" name="Legenda Zakończone"/>
          <p:cNvSpPr/>
          <p:nvPr/>
        </p:nvSpPr>
        <p:spPr>
          <a:xfrm>
            <a:off x="6766560" y="4553712"/>
            <a:ext cx="118872" cy="118872"/>
          </a:xfrm>
          <a:prstGeom prst="ellipse">
            <a:avLst/>
          </a:prstGeom>
          <a:solidFill>
            <a:schemeClr val="accent5"/>
          </a:solidFill>
          <a:ln/>
        </p:spPr>
      </p:sp>
      <p:sp>
        <p:nvSpPr>
          <p:cNvPr id="42" name="Text 40"/>
          <p:cNvSpPr txBox="1"/>
          <p:nvPr/>
        </p:nvSpPr>
        <p:spPr>
          <a:xfrm>
            <a:off x="6949440" y="4507992"/>
            <a:ext cx="1737360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Zakończone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846320"/>
            <a:ext cx="365760" cy="20116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chemeClr val="tx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Aia Prezes">
  <a:themeElements>
    <a:clrScheme name="GAia Prezes">
      <a:dk1>
        <a:srgbClr val="1B2B3A"/>
      </a:dk1>
      <a:lt1>
        <a:srgbClr val="FFFFFF"/>
      </a:lt1>
      <a:dk2>
        <a:srgbClr val="5F6B76"/>
      </a:dk2>
      <a:lt2>
        <a:srgbClr val="F2F5F7"/>
      </a:lt2>
      <a:accent1>
        <a:srgbClr val="1F4E79"/>
      </a:accent1>
      <a:accent2>
        <a:srgbClr val="2E8B57"/>
      </a:accent2>
      <a:accent3>
        <a:srgbClr val="C0392B"/>
      </a:accent3>
      <a:accent4>
        <a:srgbClr val="E0A100"/>
      </a:accent4>
      <a:accent5>
        <a:srgbClr val="9AA5AE"/>
      </a:accent5>
      <a:accent6>
        <a:srgbClr val="DCE6EF"/>
      </a:accent6>
      <a:hlink>
        <a:srgbClr val="1F4E79"/>
      </a:hlink>
      <a:folHlink>
        <a:srgbClr val="5F6B76"/>
      </a:folHlink>
    </a:clrScheme>
    <a:fontScheme name="GAia Prezes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GAia – decyzje Prezesa</dc:title>
  <dc:subject>PptxGenJS Presentation</dc:subject>
  <dc:creator>PptxGenJS</dc:creator>
  <cp:lastModifiedBy>PptxGenJS</cp:lastModifiedBy>
  <cp:revision>1</cp:revision>
  <dcterms:created xsi:type="dcterms:W3CDTF">2026-10-09T12:35:55Z</dcterms:created>
  <dcterms:modified xsi:type="dcterms:W3CDTF">2026-10-09T12:35:55Z</dcterms:modified>
</cp:coreProperties>
</file>