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Porozumienie jest podpisane, teraz chcemy pokazać, jak ma to działać w praktyce.
Nie prosimy o bazę danych ARiMR. Prawo na to nie pozwala i nie jest nam to potrzebne.
Schemat jest prosty. Jeden: rolnik w GAia zaznacza zgodę na pobranie swoich danych z ARiMR i potwierdza tożsamość, na przykład profilem zaufanym. Dwa: ARiMR sprawdza zgodę i wysyła tylko dane tego rolnika: działki z mapą i uprawy z wniosku o płatności. Trzy: rolnik ma gotowy profil gospodarstwa w GAia bez przepisywania czegokolwiek. Cztery: agronom przygotowuje plan nawożenia dla każdej działki.
Od ARiMR potrzebujemy trzech rzeczy: usługi, która po zgodzie rolnika oddaje jego dane, mechanizmu zgody z możliwością jej cofnięcia oraz wspólnego zespołu technicznego i pilotażu w jednym województwie.
Co to daje: rolnik dostaje agronoma i plan nawożenia. Sypie nawóz tylko tam, gdzie gleba go potrzebuje, więc oszczędza. Mniej azotu trafia do wód, łatwiej spełnić program azotanowy i ekoschematy, w tym ekoschemat dotyczący planu nawożenia.
To przeskok od nawożenia na oko do nawożenia według danych. Prosimy o zespół techniczny i start pilotażu.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Żeby porozumienie nie zostało na papierze, proponujemy mały wspólny zespół. Każda rola ma swój odpowiednik po obu stronach.
Sponsorzy podejmują decyzje raz w miesiącu. Koordynatorzy prowadzą plan i spotykają się co tydzień. Technicy opisują usługę, przez którą ARiMR odda dane rolnika po jego zgodzie, i testują ją na danych testowych. Prawnicy i inspektorzy ochrony danych uzgadniają treść zgody i umowę o udostępnianiu danych. Koordynator agronomów i biuro ARiMR w województwie pilotażowym zbierają rolników do testu.
Po naszej stronie to osiem osób, po stronie ARiMR sześć, wszyscy na część etatu.
Harmonogram: do 23 października wskazujemy osoby i robimy spotkanie startowe. W listopadzie zakres danych, treść zgody i umowa wykonawcza. Grudzień i styczeń to usługa i testy. Od lutego do kwietnia pilotaż w jednym województwie, w sezonie wiosennym. W maju wyniki i decyzja o całym kraju.
Dziś prosimy o koordynatora i pięć osób do zespołu do 23 października oraz dokumentację systemu i dostęp do środowiska testowego.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KLIKNIĘCIE ROLNIKA ZAMIAST CAŁEJ BAZY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Rolnik sam zaznacza zgodę w GAia. ARiMR przekazuje dane tylko tego rolnika, nic więcej.</a:t>
            </a:r>
            <a:endParaRPr lang="en-US" sz="1200" dirty="0"/>
          </a:p>
        </p:txBody>
      </p:sp>
      <p:sp>
        <p:nvSpPr>
          <p:cNvPr id="4" name="krok1"/>
          <p:cNvSpPr/>
          <p:nvPr/>
        </p:nvSpPr>
        <p:spPr>
          <a:xfrm>
            <a:off x="457200" y="1051560"/>
            <a:ext cx="181737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61288"/>
            <a:ext cx="329184" cy="3291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161288"/>
            <a:ext cx="1213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563624"/>
            <a:ext cx="15979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Zaznacza zgodę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37944"/>
            <a:ext cx="1597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„pobierz moje dane”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logowanie: profil zaufany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274570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1" name="krok2"/>
          <p:cNvSpPr/>
          <p:nvPr/>
        </p:nvSpPr>
        <p:spPr>
          <a:xfrm>
            <a:off x="2594610" y="1051560"/>
            <a:ext cx="1817370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25400">
            <a:solidFill>
              <a:srgbClr val="2E5F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04338" y="1161288"/>
            <a:ext cx="329184" cy="329184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04338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24962" y="1161288"/>
            <a:ext cx="1213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04338" y="1563624"/>
            <a:ext cx="15979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Sprawdza i wysyła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704338" y="1837944"/>
            <a:ext cx="1597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zgoda i tożsamość OK,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wysyła działki i uprawy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11980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8" name="krok3"/>
          <p:cNvSpPr/>
          <p:nvPr/>
        </p:nvSpPr>
        <p:spPr>
          <a:xfrm>
            <a:off x="4732020" y="1051560"/>
            <a:ext cx="181737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1748" y="1161288"/>
            <a:ext cx="329184" cy="3291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1748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62372" y="1161288"/>
            <a:ext cx="1213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41748" y="1563624"/>
            <a:ext cx="15979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gotowy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841748" y="1837944"/>
            <a:ext cx="1597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pól, uprawy, hektary,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przepisywania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49390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25" name="krok4"/>
          <p:cNvSpPr/>
          <p:nvPr/>
        </p:nvSpPr>
        <p:spPr>
          <a:xfrm>
            <a:off x="6869430" y="1051560"/>
            <a:ext cx="181737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79158" y="1161288"/>
            <a:ext cx="329184" cy="3291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79158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99782" y="1161288"/>
            <a:ext cx="1213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979158" y="1563624"/>
            <a:ext cx="15979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nawożenia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979158" y="1837944"/>
            <a:ext cx="1597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każdej działki: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ile, gdzie i kiedy</a:t>
            </a:r>
            <a:endParaRPr lang="en-US" sz="900" dirty="0"/>
          </a:p>
        </p:txBody>
      </p:sp>
      <p:sp>
        <p:nvSpPr>
          <p:cNvPr id="31" name="chcemy"/>
          <p:cNvSpPr/>
          <p:nvPr/>
        </p:nvSpPr>
        <p:spPr>
          <a:xfrm>
            <a:off x="457200" y="2487168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94360" y="25968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KONKRETNIE CHCEMY OD ARiMR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28712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Usługa (API):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zgodzie rolnika zwraca jego działki (mapa, powierzchnia) i uprawy z wniosku o płatności.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Zgoda i jej cofnięcie: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rolnik potwierdza tożsamość (profil zaufany) i może cofnąć zgodę w każdej chwili.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Zespół i pilotaż: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wspólny zespół techniczny, test w 1 województwie.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58768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F8ECEA"/>
          </a:solidFill>
          <a:ln w="12700">
            <a:solidFill>
              <a:srgbClr val="F8EC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858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CHCEMY: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całej bazy ani danych rolników, którzy nie dali zgody.</a:t>
            </a:r>
            <a:endParaRPr lang="en-US" sz="950" dirty="0"/>
          </a:p>
        </p:txBody>
      </p:sp>
      <p:sp>
        <p:nvSpPr>
          <p:cNvPr id="36" name="efekt"/>
          <p:cNvSpPr/>
          <p:nvPr/>
        </p:nvSpPr>
        <p:spPr>
          <a:xfrm>
            <a:off x="4663440" y="2487168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800600" y="25968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TO DAJE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52928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2926080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Rolnik: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 do agronoma i plan nawożenia bez wpisywania drugi raz tego, co już zgłosił do ARiMR.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Portfel: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nawóz tylko tam, gdzie gleba go potrzebuje. Mniej kosztów, ten sam lub wyższy plon.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Środowisko: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azotu w wodach i glebie. Łatwiej spełnić program azotanowy i ekoschematy.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4622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F3A57">
              <a:alpha val="92000"/>
            </a:srgbClr>
          </a:solidFill>
          <a:ln w="12700">
            <a:solidFill>
              <a:srgbClr val="1F3A5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44622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Przeskok: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nawożenia „na oko” do nawożenia według danych i porady agronoma.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Prośba: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wspólny zespół techniczny i pilotaż integracji.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WSPÓLNY ZESPÓŁ I PILOTAŻ: KTO, CO, KIEDY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Propozycja: 8 osób po naszej stronie, 6 po stronie ARiMR (część etatu). Zespół co tydzień, komitet raz w miesiącu.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NASZEJ STRONIE: GAia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49040" y="10058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005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10058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1005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STRONIE ARiMR</a:t>
            </a:r>
            <a:endParaRPr lang="en-US" sz="900" dirty="0"/>
          </a:p>
        </p:txBody>
      </p:sp>
      <p:sp>
        <p:nvSpPr>
          <p:cNvPr id="10" name="nasi0"/>
          <p:cNvSpPr/>
          <p:nvPr/>
        </p:nvSpPr>
        <p:spPr>
          <a:xfrm>
            <a:off x="457200" y="1389888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3898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dyrektor programu GAia</a:t>
            </a:r>
            <a:endParaRPr lang="en-US" sz="950" dirty="0"/>
          </a:p>
        </p:txBody>
      </p:sp>
      <p:sp>
        <p:nvSpPr>
          <p:cNvPr id="12" name="wspolnie0"/>
          <p:cNvSpPr/>
          <p:nvPr/>
        </p:nvSpPr>
        <p:spPr>
          <a:xfrm>
            <a:off x="3749040" y="1389888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3898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⟵ decyzje, raz w miesiącu ⟶</a:t>
            </a:r>
            <a:endParaRPr lang="en-US" sz="850" dirty="0"/>
          </a:p>
        </p:txBody>
      </p:sp>
      <p:sp>
        <p:nvSpPr>
          <p:cNvPr id="14" name="arimr0"/>
          <p:cNvSpPr/>
          <p:nvPr/>
        </p:nvSpPr>
        <p:spPr>
          <a:xfrm>
            <a:off x="5532120" y="1389888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EAF1F8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13898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dyrektor właściwego departamentu</a:t>
            </a:r>
            <a:endParaRPr lang="en-US" sz="950" dirty="0"/>
          </a:p>
        </p:txBody>
      </p:sp>
      <p:sp>
        <p:nvSpPr>
          <p:cNvPr id="16" name="nasi1"/>
          <p:cNvSpPr/>
          <p:nvPr/>
        </p:nvSpPr>
        <p:spPr>
          <a:xfrm>
            <a:off x="457200" y="178308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17830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Koordynator: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kierownik projektu GAia</a:t>
            </a:r>
            <a:endParaRPr lang="en-US" sz="950" dirty="0"/>
          </a:p>
        </p:txBody>
      </p:sp>
      <p:sp>
        <p:nvSpPr>
          <p:cNvPr id="18" name="wspolnie1"/>
          <p:cNvSpPr/>
          <p:nvPr/>
        </p:nvSpPr>
        <p:spPr>
          <a:xfrm>
            <a:off x="3749040" y="17830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75888" y="17830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⟵ plan i postęp, co tydzień ⟶</a:t>
            </a:r>
            <a:endParaRPr lang="en-US" sz="850" dirty="0"/>
          </a:p>
        </p:txBody>
      </p:sp>
      <p:sp>
        <p:nvSpPr>
          <p:cNvPr id="20" name="arimr1"/>
          <p:cNvSpPr/>
          <p:nvPr/>
        </p:nvSpPr>
        <p:spPr>
          <a:xfrm>
            <a:off x="5532120" y="178308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EAF1F8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41848" y="17830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Koordynator: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koordynator projektu ARiMR</a:t>
            </a:r>
            <a:endParaRPr lang="en-US" sz="950" dirty="0"/>
          </a:p>
        </p:txBody>
      </p:sp>
      <p:sp>
        <p:nvSpPr>
          <p:cNvPr id="22" name="nasi2"/>
          <p:cNvSpPr/>
          <p:nvPr/>
        </p:nvSpPr>
        <p:spPr>
          <a:xfrm>
            <a:off x="457200" y="2176272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1762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Technika: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 + 2 programistów</a:t>
            </a:r>
            <a:endParaRPr lang="en-US" sz="950" dirty="0"/>
          </a:p>
        </p:txBody>
      </p:sp>
      <p:sp>
        <p:nvSpPr>
          <p:cNvPr id="24" name="wspolnie2"/>
          <p:cNvSpPr/>
          <p:nvPr/>
        </p:nvSpPr>
        <p:spPr>
          <a:xfrm>
            <a:off x="3749040" y="2176272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75888" y="217627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⟵ opis API i testy ⟶</a:t>
            </a:r>
            <a:endParaRPr lang="en-US" sz="850" dirty="0"/>
          </a:p>
        </p:txBody>
      </p:sp>
      <p:sp>
        <p:nvSpPr>
          <p:cNvPr id="26" name="arimr2"/>
          <p:cNvSpPr/>
          <p:nvPr/>
        </p:nvSpPr>
        <p:spPr>
          <a:xfrm>
            <a:off x="5532120" y="2176272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EAF1F8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41848" y="21762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Technika: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opiekun systemu + środowisko testowe</a:t>
            </a:r>
            <a:endParaRPr lang="en-US" sz="950" dirty="0"/>
          </a:p>
        </p:txBody>
      </p:sp>
      <p:sp>
        <p:nvSpPr>
          <p:cNvPr id="28" name="nasi3"/>
          <p:cNvSpPr/>
          <p:nvPr/>
        </p:nvSpPr>
        <p:spPr>
          <a:xfrm>
            <a:off x="457200" y="2569464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25694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Prawo i RODO: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prawnik + inspektor danych</a:t>
            </a:r>
            <a:endParaRPr lang="en-US" sz="950" dirty="0"/>
          </a:p>
        </p:txBody>
      </p:sp>
      <p:sp>
        <p:nvSpPr>
          <p:cNvPr id="30" name="wspolnie3"/>
          <p:cNvSpPr/>
          <p:nvPr/>
        </p:nvSpPr>
        <p:spPr>
          <a:xfrm>
            <a:off x="3749040" y="2569464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75888" y="256946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⟵ zgoda i umowa o danych ⟶</a:t>
            </a:r>
            <a:endParaRPr lang="en-US" sz="850" dirty="0"/>
          </a:p>
        </p:txBody>
      </p:sp>
      <p:sp>
        <p:nvSpPr>
          <p:cNvPr id="32" name="arimr3"/>
          <p:cNvSpPr/>
          <p:nvPr/>
        </p:nvSpPr>
        <p:spPr>
          <a:xfrm>
            <a:off x="5532120" y="2569464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EAF1F8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41848" y="25694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Prawo i RODO: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prawnik + inspektor danych</a:t>
            </a:r>
            <a:endParaRPr lang="en-US" sz="950" dirty="0"/>
          </a:p>
        </p:txBody>
      </p:sp>
      <p:sp>
        <p:nvSpPr>
          <p:cNvPr id="34" name="nasi4"/>
          <p:cNvSpPr/>
          <p:nvPr/>
        </p:nvSpPr>
        <p:spPr>
          <a:xfrm>
            <a:off x="457200" y="2962656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29626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Rolnicy: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koordynator agronomów</a:t>
            </a:r>
            <a:endParaRPr lang="en-US" sz="950" dirty="0"/>
          </a:p>
        </p:txBody>
      </p:sp>
      <p:sp>
        <p:nvSpPr>
          <p:cNvPr id="36" name="wspolnie4"/>
          <p:cNvSpPr/>
          <p:nvPr/>
        </p:nvSpPr>
        <p:spPr>
          <a:xfrm>
            <a:off x="3749040" y="2962656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75888" y="296265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⟵ nabór rolników ⟶</a:t>
            </a:r>
            <a:endParaRPr lang="en-US" sz="850" dirty="0"/>
          </a:p>
        </p:txBody>
      </p:sp>
      <p:sp>
        <p:nvSpPr>
          <p:cNvPr id="38" name="arimr4"/>
          <p:cNvSpPr/>
          <p:nvPr/>
        </p:nvSpPr>
        <p:spPr>
          <a:xfrm>
            <a:off x="5532120" y="2962656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EAF1F8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41848" y="29626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Rolnicy: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biuro w województwie pilotażowym</a:t>
            </a:r>
            <a:endParaRPr lang="en-US" sz="950" dirty="0"/>
          </a:p>
        </p:txBody>
      </p:sp>
      <p:sp>
        <p:nvSpPr>
          <p:cNvPr id="40" name="krok2_0"/>
          <p:cNvSpPr/>
          <p:nvPr/>
        </p:nvSpPr>
        <p:spPr>
          <a:xfrm>
            <a:off x="457200" y="3456432"/>
            <a:ext cx="1536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48640" y="35295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23.10.2026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7307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39593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 strony wskazują osoby, spotkanie startowe</a:t>
            </a:r>
            <a:endParaRPr lang="en-US" sz="850" dirty="0"/>
          </a:p>
        </p:txBody>
      </p:sp>
      <p:sp>
        <p:nvSpPr>
          <p:cNvPr id="44" name="krok2_1"/>
          <p:cNvSpPr/>
          <p:nvPr/>
        </p:nvSpPr>
        <p:spPr>
          <a:xfrm>
            <a:off x="2130552" y="3456432"/>
            <a:ext cx="1536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2221992" y="35295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LISTOPAD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221992" y="37307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Zgoda i dane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2221992" y="39593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zakres danych, treść zgody, umowa wykonawcza</a:t>
            </a:r>
            <a:endParaRPr lang="en-US" sz="850" dirty="0"/>
          </a:p>
        </p:txBody>
      </p:sp>
      <p:sp>
        <p:nvSpPr>
          <p:cNvPr id="48" name="krok2_2"/>
          <p:cNvSpPr/>
          <p:nvPr/>
        </p:nvSpPr>
        <p:spPr>
          <a:xfrm>
            <a:off x="3803904" y="3456432"/>
            <a:ext cx="1536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895344" y="35295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GRUDZIEŃ–STYCZEŃ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895344" y="37307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API i testy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895344" y="39593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usługi, testy na danych testowych</a:t>
            </a:r>
            <a:endParaRPr lang="en-US" sz="850" dirty="0"/>
          </a:p>
        </p:txBody>
      </p:sp>
      <p:sp>
        <p:nvSpPr>
          <p:cNvPr id="52" name="krok2_3"/>
          <p:cNvSpPr/>
          <p:nvPr/>
        </p:nvSpPr>
        <p:spPr>
          <a:xfrm>
            <a:off x="5477256" y="3456432"/>
            <a:ext cx="1536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5568696" y="35295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LUTY–KWIECIEŃ 2027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568696" y="37307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Pilotaż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568696" y="39593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województwo, sezon wiosenny</a:t>
            </a:r>
            <a:endParaRPr lang="en-US" sz="850" dirty="0"/>
          </a:p>
        </p:txBody>
      </p:sp>
      <p:sp>
        <p:nvSpPr>
          <p:cNvPr id="56" name="krok2_4"/>
          <p:cNvSpPr/>
          <p:nvPr/>
        </p:nvSpPr>
        <p:spPr>
          <a:xfrm>
            <a:off x="7150608" y="3456432"/>
            <a:ext cx="1536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7242048" y="35295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 2027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7242048" y="37307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Decyzja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242048" y="39593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pilotażu, plan dla całego kraju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1F3A57">
              <a:alpha val="92000"/>
            </a:srgbClr>
          </a:solidFill>
          <a:ln w="12700">
            <a:solidFill>
              <a:srgbClr val="1F3A5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0080" y="44805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Prosimy dziś ARiMR o: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koordynatora i 5 osób do zespołu do 23.10, dokumentację systemu i dostęp testowy.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GAia x ARiMR - integracja za zgodą rolnika</dc:title>
  <dc:subject>PptxGenJS Presentation</dc:subject>
  <dc:creator>PptxGenJS</dc:creator>
  <cp:lastModifiedBy>PptxGenJS</cp:lastModifiedBy>
  <cp:revision>1</cp:revision>
  <dcterms:created xsi:type="dcterms:W3CDTF">2026-10-09T08:07:15Z</dcterms:created>
  <dcterms:modified xsi:type="dcterms:W3CDTF">2026-10-09T08:07:15Z</dcterms:modified>
</cp:coreProperties>
</file>